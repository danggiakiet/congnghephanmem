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87" r:id="rId3"/>
    <p:sldId id="288" r:id="rId4"/>
    <p:sldId id="289" r:id="rId5"/>
    <p:sldId id="290" r:id="rId6"/>
    <p:sldId id="311" r:id="rId7"/>
    <p:sldId id="293" r:id="rId8"/>
    <p:sldId id="310" r:id="rId9"/>
    <p:sldId id="304" r:id="rId10"/>
    <p:sldId id="301" r:id="rId11"/>
    <p:sldId id="302" r:id="rId12"/>
    <p:sldId id="303" r:id="rId13"/>
    <p:sldId id="306" r:id="rId14"/>
    <p:sldId id="308" r:id="rId15"/>
    <p:sldId id="3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60"/>
  </p:normalViewPr>
  <p:slideViewPr>
    <p:cSldViewPr snapToGrid="0">
      <p:cViewPr>
        <p:scale>
          <a:sx n="50" d="100"/>
          <a:sy n="50" d="100"/>
        </p:scale>
        <p:origin x="3234" y="14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0AEC108-4702-BE74-4E02-D4E55D4364CD}"/>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32954D13-D5B2-7693-EFB8-B35A8552C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E7080760-3681-9C61-E0AC-65D85F746629}"/>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EF2EEE11-87D9-AA9E-B17B-95079F3406A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BE8C9908-6590-A8BE-DBF6-0DFA48B0AD81}"/>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034884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56BD8A-1750-00F7-B061-C5CB85DE451C}"/>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EFFDB11C-CD66-94E7-3224-A204112EB46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497C2EA2-2AFD-66C5-348A-664337A1B9B0}"/>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5D7927FE-7DF7-876E-61EA-24B0B0C1C8E2}"/>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B452C10-8327-9170-2FDE-C78B9CA789CE}"/>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425128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364976E-3777-495C-DD13-93E4BE6ECAAE}"/>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A7CBD5DC-AE35-735A-876F-E26E567316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7DFD16F1-8F9D-3DCD-4EAF-D6AFCAE4232B}"/>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4091322C-59C7-8EDA-4B1E-52443F35AE6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257B418-2856-CD28-AE29-C8E5699ACA25}"/>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933410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85347EE-F430-9384-26DB-9B8F0E138C80}"/>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2FCC1C32-13E9-8AB1-A3ED-EC05C125DD8A}"/>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86DC1311-5123-A4F5-D897-3DB40944DB00}"/>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EE6D9EC7-DD99-6BCE-47B2-B2E719ACAA7C}"/>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Chỗ dành sẵn cho Chân trang 5">
            <a:extLst>
              <a:ext uri="{FF2B5EF4-FFF2-40B4-BE49-F238E27FC236}">
                <a16:creationId xmlns:a16="http://schemas.microsoft.com/office/drawing/2014/main" id="{7F60C377-3B71-11BE-CC06-FD4BA98E27F9}"/>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C9C3B6C5-C0D0-5A9F-7A55-215B194A919E}"/>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245690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9CBD5F0-9F9D-D4EC-448E-1B8C30AD6649}"/>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4B238A8-E98B-91AC-0BC8-758723D1C0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36576B2C-0468-78F6-DE63-B14E4DC453DB}"/>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394A43CD-4E3F-AB29-EBD5-60605FCCB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824D09BC-D673-31B1-6222-AF33FFDAA91C}"/>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3B4FC5EF-8E8B-F9D0-69CE-8C88018296D7}"/>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8" name="Chỗ dành sẵn cho Chân trang 7">
            <a:extLst>
              <a:ext uri="{FF2B5EF4-FFF2-40B4-BE49-F238E27FC236}">
                <a16:creationId xmlns:a16="http://schemas.microsoft.com/office/drawing/2014/main" id="{C0B7F0E9-F26E-96D1-C866-DF8CFE71D3C6}"/>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82CCB2A7-489E-D6DB-7A5A-1E462745446C}"/>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369124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3FE599D-4AE9-BE06-DF51-8B278BC49251}"/>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F2332463-1099-3F9C-1248-19482E47256B}"/>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4" name="Chỗ dành sẵn cho Chân trang 3">
            <a:extLst>
              <a:ext uri="{FF2B5EF4-FFF2-40B4-BE49-F238E27FC236}">
                <a16:creationId xmlns:a16="http://schemas.microsoft.com/office/drawing/2014/main" id="{4F102E6E-7ACA-571F-A02D-2769089925B0}"/>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670ABD40-9E13-77A7-7B81-CA02546FE6EE}"/>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069337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B0DE26B8-5F2D-EBE7-135F-525A5EFA3C66}"/>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3" name="Chỗ dành sẵn cho Chân trang 2">
            <a:extLst>
              <a:ext uri="{FF2B5EF4-FFF2-40B4-BE49-F238E27FC236}">
                <a16:creationId xmlns:a16="http://schemas.microsoft.com/office/drawing/2014/main" id="{A3BBF7AA-0187-8C60-DE30-22B42D2290EA}"/>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136DA4F8-A4D5-CAE5-86C5-499104E4D7C8}"/>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936334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42CB8AA-F7A3-6ECB-721A-1E6DE7CC2A9A}"/>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BC6A72A-194F-4429-58C5-5E88B3471E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70BE7428-E402-D82C-0013-E0E6946FB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CCAAFBAE-CA92-562D-650A-486C686CCAF0}"/>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Chỗ dành sẵn cho Chân trang 5">
            <a:extLst>
              <a:ext uri="{FF2B5EF4-FFF2-40B4-BE49-F238E27FC236}">
                <a16:creationId xmlns:a16="http://schemas.microsoft.com/office/drawing/2014/main" id="{1E449C86-3FFC-FE74-96B9-7CEEC2DA89CC}"/>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4B58E741-602E-D2A5-810B-EF7D2E4FDBB3}"/>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3193619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F8F71D4-8BEF-78DB-1575-25F25CA3CD7D}"/>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2B5316C9-3CD3-1BA6-9846-6D3B261F29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F909C870-849A-F0B5-7AAA-DC7864B09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FE665D9A-3B6C-C45A-F63D-9EA9BB568D41}"/>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Chỗ dành sẵn cho Chân trang 5">
            <a:extLst>
              <a:ext uri="{FF2B5EF4-FFF2-40B4-BE49-F238E27FC236}">
                <a16:creationId xmlns:a16="http://schemas.microsoft.com/office/drawing/2014/main" id="{7AA66465-13A1-6CC6-77FF-1D34836AF662}"/>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BFBD4ED8-FBC8-63F4-DFD7-A803385AF77D}"/>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869109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5ECC8AA-9767-B866-C67D-97CBCB4805F7}"/>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A1083EBD-E1A1-B02F-DF0F-99CE88BA7852}"/>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EF59156B-DBC5-398A-C2CF-6497C8212003}"/>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A6A7C31B-859A-073C-0AB9-CCB5AC70E626}"/>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CA47B75-9368-52DC-6076-05FDAB3687EE}"/>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234367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00355F42-F00F-9C88-9042-5CE68BD4E7F4}"/>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60823E6-246E-508F-3214-BC570CA9E4D1}"/>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A7D5F65-9DA3-5BBD-A336-7E1FD3A90460}"/>
              </a:ext>
            </a:extLst>
          </p:cNvPr>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66D0AF72-D075-A1DA-F083-7A3D57DC12E3}"/>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B9C07E0-6F65-8DA3-B901-ADC3834AF1F1}"/>
              </a:ext>
            </a:extLst>
          </p:cNvPr>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622380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vi-VN"/>
              <a:t>Bấm để sửa kiểu tiêu đề Bản cái</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FF19BE94-3AED-48FE-976E-0948436EA5C2}" type="datetimeFigureOut">
              <a:rPr lang="en-US" smtClean="0"/>
              <a:t>27/4/2023</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123317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170838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Đầu trang của Phầ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vi-VN"/>
              <a:t>Bấm để sửa kiểu tiêu đề Bản cái</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FF19BE94-3AED-48FE-976E-0948436EA5C2}" type="datetimeFigureOut">
              <a:rPr lang="en-US" smtClean="0"/>
              <a:t>27/4/2023</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7083198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14386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vi-VN"/>
              <a:t>Bấm để sửa kiểu tiêu đề Bản cái</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685800" y="3132666"/>
            <a:ext cx="5311775" cy="3086019"/>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6172200" y="3132666"/>
            <a:ext cx="5334000" cy="3086019"/>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FF19BE94-3AED-48FE-976E-0948436EA5C2}" type="datetimeFigureOut">
              <a:rPr lang="en-US" smtClean="0"/>
              <a:t>27/4/2023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3486694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FF19BE94-3AED-48FE-976E-0948436EA5C2}" type="datetimeFigureOut">
              <a:rPr lang="en-US" smtClean="0"/>
              <a:t>27/4/2023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8654967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19BE94-3AED-48FE-976E-0948436EA5C2}" type="datetimeFigureOut">
              <a:rPr lang="en-US" smtClean="0"/>
              <a:t>27/4/2023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3371581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vi-VN"/>
              <a:t>Bấm để sửa kiểu tiêu đề Bản cái</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3260108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626340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882666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êu đề và Chú thích">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vi-VN"/>
              <a:t>Bấm để sửa kiểu tiêu đề Bản cái</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3800670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rích dẫn cùng với Chú thích">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vi-VN"/>
              <a:t>Bấm để sửa kiểu tiêu đề Bản cái</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AF0682-A819-4D28-9F0A-2B803E18BADD}"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382106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Danh Thiếp">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vi-VN"/>
              <a:t>Bấm để sửa kiểu tiêu đề Bản cái</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FF19BE94-3AED-48FE-976E-0948436EA5C2}" type="datetimeFigureOut">
              <a:rPr lang="en-US" smtClean="0"/>
              <a:t>27/4/2023</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6498031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ột">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vi-VN"/>
              <a:t>Bấm để sửa kiểu tiêu đề Bản cái</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3" name="Date Placeholder 2"/>
          <p:cNvSpPr>
            <a:spLocks noGrp="1"/>
          </p:cNvSpPr>
          <p:nvPr>
            <p:ph type="dt" sz="half" idx="10"/>
          </p:nvPr>
        </p:nvSpPr>
        <p:spPr/>
        <p:txBody>
          <a:bodyPr/>
          <a:lstStyle/>
          <a:p>
            <a:fld id="{FF19BE94-3AED-48FE-976E-0948436EA5C2}" type="datetimeFigureOut">
              <a:rPr lang="en-US" smtClean="0"/>
              <a:t>27/4/2023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20971540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ột Hình ảnh">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vi-VN"/>
              <a:t>Bấm để sửa kiểu tiêu đề Bản cái</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3" name="Date Placeholder 2"/>
          <p:cNvSpPr>
            <a:spLocks noGrp="1"/>
          </p:cNvSpPr>
          <p:nvPr>
            <p:ph type="dt" sz="half" idx="10"/>
          </p:nvPr>
        </p:nvSpPr>
        <p:spPr/>
        <p:txBody>
          <a:bodyPr/>
          <a:lstStyle/>
          <a:p>
            <a:fld id="{FF19BE94-3AED-48FE-976E-0948436EA5C2}" type="datetimeFigureOut">
              <a:rPr lang="en-US" smtClean="0"/>
              <a:t>27/4/2023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984761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FF19BE94-3AED-48FE-976E-0948436EA5C2}" type="datetimeFigureOut">
              <a:rPr lang="en-US" smtClean="0"/>
              <a:t>27/4/2023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1987099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Tiêu đề Dọc và Văn bả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vi-VN"/>
              <a:t>Bấm để sửa kiểu tiêu đề Bản cái</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FF19BE94-3AED-48FE-976E-0948436EA5C2}" type="datetimeFigureOut">
              <a:rPr lang="en-US" smtClean="0"/>
              <a:t>27/4/2023</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5AF0682-A819-4D28-9F0A-2B803E18BADD}" type="slidenum">
              <a:rPr lang="en-US" smtClean="0"/>
              <a:t>‹#›</a:t>
            </a:fld>
            <a:endParaRPr lang="en-US"/>
          </a:p>
        </p:txBody>
      </p:sp>
    </p:spTree>
    <p:extLst>
      <p:ext uri="{BB962C8B-B14F-4D97-AF65-F5344CB8AC3E}">
        <p14:creationId xmlns:p14="http://schemas.microsoft.com/office/powerpoint/2010/main" val="371407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D2765DC8-8FC8-76F5-6CF6-9E01BE7D17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592B971F-BD6A-DAA8-7546-20169DA7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4BCF684-BBEF-2FDF-BD2A-87539EFE0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19BE94-3AED-48FE-976E-0948436EA5C2}" type="datetimeFigureOut">
              <a:rPr lang="en-US" smtClean="0"/>
              <a:t>27/4/2023</a:t>
            </a:fld>
            <a:endParaRPr lang="en-US"/>
          </a:p>
        </p:txBody>
      </p:sp>
      <p:sp>
        <p:nvSpPr>
          <p:cNvPr id="5" name="Chỗ dành sẵn cho Chân trang 4">
            <a:extLst>
              <a:ext uri="{FF2B5EF4-FFF2-40B4-BE49-F238E27FC236}">
                <a16:creationId xmlns:a16="http://schemas.microsoft.com/office/drawing/2014/main" id="{03E1B53F-CAE6-8E48-0EE5-9F6FA43F9D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Chỗ dành sẵn cho Số hiệu Bản chiếu 5">
            <a:extLst>
              <a:ext uri="{FF2B5EF4-FFF2-40B4-BE49-F238E27FC236}">
                <a16:creationId xmlns:a16="http://schemas.microsoft.com/office/drawing/2014/main" id="{2190E695-AABE-BCBD-698C-757184E471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AF0682-A819-4D28-9F0A-2B803E18BADD}" type="slidenum">
              <a:rPr lang="en-US" smtClean="0"/>
              <a:t>‹#›</a:t>
            </a:fld>
            <a:endParaRPr lang="en-US"/>
          </a:p>
        </p:txBody>
      </p:sp>
    </p:spTree>
    <p:extLst>
      <p:ext uri="{BB962C8B-B14F-4D97-AF65-F5344CB8AC3E}">
        <p14:creationId xmlns:p14="http://schemas.microsoft.com/office/powerpoint/2010/main" val="1927224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F19BE94-3AED-48FE-976E-0948436EA5C2}" type="datetimeFigureOut">
              <a:rPr lang="en-US" smtClean="0"/>
              <a:t>27/4/2023</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5AF0682-A819-4D28-9F0A-2B803E18BADD}" type="slidenum">
              <a:rPr lang="en-US" smtClean="0"/>
              <a:t>‹#›</a:t>
            </a:fld>
            <a:endParaRPr lang="en-US"/>
          </a:p>
        </p:txBody>
      </p:sp>
    </p:spTree>
    <p:extLst>
      <p:ext uri="{BB962C8B-B14F-4D97-AF65-F5344CB8AC3E}">
        <p14:creationId xmlns:p14="http://schemas.microsoft.com/office/powerpoint/2010/main" val="183310987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14.xml"/><Relationship Id="rId4" Type="http://schemas.openxmlformats.org/officeDocument/2006/relationships/slide" Target="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14.xml"/><Relationship Id="rId4" Type="http://schemas.openxmlformats.org/officeDocument/2006/relationships/slide" Target="slide13.xml"/></Relationships>
</file>

<file path=ppt/slides/_rels/slide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1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14.xml"/><Relationship Id="rId4" Type="http://schemas.openxmlformats.org/officeDocument/2006/relationships/slide" Target="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b="1" dirty="0"/>
              <a:t>AWS Cloud9</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761488" y="3721608"/>
            <a:ext cx="7286638" cy="868680"/>
          </a:xfrm>
        </p:spPr>
        <p:txBody>
          <a:bodyPr>
            <a:normAutofit fontScale="92500" lnSpcReduction="10000"/>
          </a:bodyPr>
          <a:lstStyle/>
          <a:p>
            <a:pPr marL="0" indent="0">
              <a:buNone/>
            </a:pPr>
            <a:r>
              <a:rPr lang="en-US" sz="3200" b="1" dirty="0" err="1"/>
              <a:t>Giải</a:t>
            </a:r>
            <a:r>
              <a:rPr lang="en-US" sz="3200" b="1" dirty="0"/>
              <a:t> </a:t>
            </a:r>
            <a:r>
              <a:rPr lang="en-US" sz="3200" b="1" dirty="0" err="1"/>
              <a:t>pháp</a:t>
            </a:r>
            <a:r>
              <a:rPr lang="en-US" sz="3200" b="1" dirty="0"/>
              <a:t> </a:t>
            </a:r>
            <a:r>
              <a:rPr lang="en-US" sz="3200" b="1" dirty="0" err="1"/>
              <a:t>phát</a:t>
            </a:r>
            <a:r>
              <a:rPr lang="en-US" sz="3200" b="1" dirty="0"/>
              <a:t> </a:t>
            </a:r>
            <a:r>
              <a:rPr lang="en-US" sz="3200" b="1" dirty="0" err="1"/>
              <a:t>triển</a:t>
            </a:r>
            <a:r>
              <a:rPr lang="en-US" sz="3200" b="1" dirty="0"/>
              <a:t> </a:t>
            </a:r>
            <a:r>
              <a:rPr lang="en-US" sz="3200" b="1" dirty="0" err="1"/>
              <a:t>ứng</a:t>
            </a:r>
            <a:r>
              <a:rPr lang="en-US" sz="3200" b="1" dirty="0"/>
              <a:t> </a:t>
            </a:r>
            <a:r>
              <a:rPr lang="en-US" sz="3200" b="1" dirty="0" err="1"/>
              <a:t>dụng</a:t>
            </a:r>
            <a:r>
              <a:rPr lang="en-US" sz="3200" b="1" dirty="0"/>
              <a:t> </a:t>
            </a:r>
            <a:r>
              <a:rPr lang="en-US" sz="3200" b="1" dirty="0" err="1"/>
              <a:t>trực</a:t>
            </a:r>
            <a:r>
              <a:rPr lang="en-US" sz="3200" b="1" dirty="0"/>
              <a:t> </a:t>
            </a:r>
            <a:r>
              <a:rPr lang="en-US" sz="3200" b="1" dirty="0" err="1"/>
              <a:t>tuyến</a:t>
            </a:r>
            <a:r>
              <a:rPr lang="en-US" sz="3200" b="1" dirty="0"/>
              <a:t> </a:t>
            </a:r>
            <a:r>
              <a:rPr lang="en-US" sz="3200" b="1" dirty="0" err="1"/>
              <a:t>đa</a:t>
            </a:r>
            <a:r>
              <a:rPr lang="en-US" sz="3200" b="1" dirty="0"/>
              <a:t> </a:t>
            </a:r>
            <a:r>
              <a:rPr lang="en-US" sz="3200" b="1" dirty="0" err="1"/>
              <a:t>nền</a:t>
            </a:r>
            <a:r>
              <a:rPr lang="en-US" sz="3200" b="1" dirty="0"/>
              <a:t> </a:t>
            </a:r>
            <a:r>
              <a:rPr lang="en-US" sz="3200" b="1" dirty="0" err="1"/>
              <a:t>tảng</a:t>
            </a:r>
            <a:endParaRPr lang="en-US" sz="3200" b="1" dirty="0"/>
          </a:p>
        </p:txBody>
      </p:sp>
    </p:spTree>
    <p:extLst>
      <p:ext uri="{BB962C8B-B14F-4D97-AF65-F5344CB8AC3E}">
        <p14:creationId xmlns:p14="http://schemas.microsoft.com/office/powerpoint/2010/main" val="98625918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AWS Cloud9 </a:t>
            </a:r>
            <a:r>
              <a:rPr lang="en-US" dirty="0" err="1"/>
              <a:t>là</a:t>
            </a:r>
            <a:r>
              <a:rPr lang="en-US" dirty="0"/>
              <a:t> </a:t>
            </a:r>
            <a:r>
              <a:rPr lang="en-US" dirty="0" err="1"/>
              <a:t>gì</a:t>
            </a:r>
            <a:r>
              <a:rPr lang="en-US" dirty="0"/>
              <a:t> ????</a:t>
            </a:r>
          </a:p>
        </p:txBody>
      </p:sp>
      <p:sp>
        <p:nvSpPr>
          <p:cNvPr id="15" name="Chỗ dành sẵn cho Văn bản 5">
            <a:extLst>
              <a:ext uri="{FF2B5EF4-FFF2-40B4-BE49-F238E27FC236}">
                <a16:creationId xmlns:a16="http://schemas.microsoft.com/office/drawing/2014/main" id="{292747E3-E4D5-2A4F-2A83-AFD0B4C73A2D}"/>
              </a:ext>
            </a:extLst>
          </p:cNvPr>
          <p:cNvSpPr>
            <a:spLocks noGrp="1"/>
          </p:cNvSpPr>
          <p:nvPr>
            <p:ph type="body" idx="1"/>
          </p:nvPr>
        </p:nvSpPr>
        <p:spPr>
          <a:xfrm>
            <a:off x="134347" y="8499041"/>
            <a:ext cx="8610101" cy="1170740"/>
          </a:xfrm>
        </p:spPr>
        <p:txBody>
          <a:bodyPr>
            <a:noAutofit/>
          </a:bodyPr>
          <a:lstStyle/>
          <a:p>
            <a:r>
              <a:rPr lang="vi-VN" sz="2800" dirty="0">
                <a:solidFill>
                  <a:schemeClr val="bg1"/>
                </a:solidFill>
              </a:rPr>
              <a:t>AWS Cloud9 là một môi trường phát triển tích hợp, hoặc IDE</a:t>
            </a:r>
            <a:r>
              <a:rPr lang="en-US" sz="2800" dirty="0">
                <a:solidFill>
                  <a:schemeClr val="bg1"/>
                </a:solidFill>
              </a:rPr>
              <a:t> </a:t>
            </a:r>
            <a:r>
              <a:rPr lang="en-US" sz="2400" i="1" dirty="0">
                <a:solidFill>
                  <a:schemeClr val="bg1"/>
                </a:solidFill>
              </a:rPr>
              <a:t>(</a:t>
            </a:r>
            <a:r>
              <a:rPr lang="vi-VN" sz="2400" i="1" dirty="0" err="1">
                <a:solidFill>
                  <a:schemeClr val="bg1"/>
                </a:solidFill>
              </a:rPr>
              <a:t>Integrated</a:t>
            </a:r>
            <a:r>
              <a:rPr lang="vi-VN" sz="2400" i="1" dirty="0">
                <a:solidFill>
                  <a:schemeClr val="bg1"/>
                </a:solidFill>
              </a:rPr>
              <a:t> </a:t>
            </a:r>
            <a:r>
              <a:rPr lang="vi-VN" sz="2400" i="1" dirty="0" err="1">
                <a:solidFill>
                  <a:schemeClr val="bg1"/>
                </a:solidFill>
              </a:rPr>
              <a:t>Development</a:t>
            </a:r>
            <a:r>
              <a:rPr lang="vi-VN" sz="2400" i="1" dirty="0">
                <a:solidFill>
                  <a:schemeClr val="bg1"/>
                </a:solidFill>
              </a:rPr>
              <a:t> </a:t>
            </a:r>
            <a:r>
              <a:rPr lang="vi-VN" sz="2400" i="1" dirty="0" err="1">
                <a:solidFill>
                  <a:schemeClr val="bg1"/>
                </a:solidFill>
              </a:rPr>
              <a:t>Environment</a:t>
            </a:r>
            <a:r>
              <a:rPr lang="en-US" sz="2400" i="1" dirty="0">
                <a:solidFill>
                  <a:schemeClr val="bg1"/>
                </a:solidFill>
              </a:rPr>
              <a:t>)</a:t>
            </a:r>
            <a:endParaRPr lang="vi-VN" sz="2800" i="1" dirty="0">
              <a:solidFill>
                <a:schemeClr val="bg1"/>
              </a:solidFill>
            </a:endParaRPr>
          </a:p>
        </p:txBody>
      </p:sp>
      <p:sp>
        <p:nvSpPr>
          <p:cNvPr id="16" name="Hộp Văn bản 15">
            <a:extLst>
              <a:ext uri="{FF2B5EF4-FFF2-40B4-BE49-F238E27FC236}">
                <a16:creationId xmlns:a16="http://schemas.microsoft.com/office/drawing/2014/main" id="{423A8156-DCB9-6658-C67F-8FF74333E574}"/>
              </a:ext>
            </a:extLst>
          </p:cNvPr>
          <p:cNvSpPr txBox="1"/>
          <p:nvPr/>
        </p:nvSpPr>
        <p:spPr>
          <a:xfrm>
            <a:off x="134347" y="8499041"/>
            <a:ext cx="8326938" cy="3108543"/>
          </a:xfrm>
          <a:prstGeom prst="rect">
            <a:avLst/>
          </a:prstGeom>
          <a:noFill/>
        </p:spPr>
        <p:txBody>
          <a:bodyPr wrap="square" rtlCol="0">
            <a:spAutoFit/>
          </a:bodyPr>
          <a:lstStyle/>
          <a:p>
            <a:r>
              <a:rPr lang="vi-VN" sz="2800" dirty="0">
                <a:solidFill>
                  <a:schemeClr val="bg1"/>
                </a:solidFill>
              </a:rPr>
              <a:t>IDE AWS Cloud9 cung cấp một trải nghiệm chỉnh sửa mã phong phú với hỗ trợ cho một số ngôn ngữ lập trình và trình gỡ lỗi thời gian chạy, và một bộ điều khiển tích hợp. Nó chứa một bộ công cụ mà bạn sử dụng để viết mã, xây dựng, chạy, kiểm thử và gỡ lỗi phần mềm, và giúp bạn phát hành phần mềm lên đám mây.</a:t>
            </a:r>
            <a:endParaRPr lang="en-US" sz="2800" dirty="0">
              <a:solidFill>
                <a:schemeClr val="bg1"/>
              </a:solidFill>
            </a:endParaRPr>
          </a:p>
        </p:txBody>
      </p:sp>
    </p:spTree>
    <p:extLst>
      <p:ext uri="{BB962C8B-B14F-4D97-AF65-F5344CB8AC3E}">
        <p14:creationId xmlns:p14="http://schemas.microsoft.com/office/powerpoint/2010/main" val="65471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35947" y="381000"/>
            <a:ext cx="7781544" cy="859055"/>
          </a:xfrm>
        </p:spPr>
        <p:txBody>
          <a:bodyPr>
            <a:normAutofit/>
          </a:bodyPr>
          <a:lstStyle/>
          <a:p>
            <a:r>
              <a:rPr lang="en-US" b="1" dirty="0"/>
              <a:t>AWS Cloud9 </a:t>
            </a:r>
            <a:r>
              <a:rPr lang="en-US" b="1" dirty="0" err="1"/>
              <a:t>là</a:t>
            </a:r>
            <a:r>
              <a:rPr lang="en-US" b="1" dirty="0"/>
              <a:t> </a:t>
            </a:r>
            <a:r>
              <a:rPr lang="en-US" b="1" dirty="0" err="1"/>
              <a:t>gì</a:t>
            </a:r>
            <a:r>
              <a:rPr lang="en-US" b="1" dirty="0"/>
              <a:t> ????</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b="1" smtClean="0">
                <a:solidFill>
                  <a:schemeClr val="tx1"/>
                </a:solidFill>
              </a:rPr>
              <a:pPr/>
              <a:t>3</a:t>
            </a:fld>
            <a:endParaRPr lang="en-US" b="1" dirty="0">
              <a:solidFill>
                <a:schemeClr val="tx1"/>
              </a:solidFill>
            </a:endParaRPr>
          </a:p>
        </p:txBody>
      </p:sp>
      <p:sp>
        <p:nvSpPr>
          <p:cNvPr id="3" name="Hộp Văn bản 2">
            <a:extLst>
              <a:ext uri="{FF2B5EF4-FFF2-40B4-BE49-F238E27FC236}">
                <a16:creationId xmlns:a16="http://schemas.microsoft.com/office/drawing/2014/main" id="{5A5AA497-8029-5FFC-82C9-B131B4D21F70}"/>
              </a:ext>
            </a:extLst>
          </p:cNvPr>
          <p:cNvSpPr txBox="1"/>
          <p:nvPr/>
        </p:nvSpPr>
        <p:spPr>
          <a:xfrm>
            <a:off x="235947" y="3297646"/>
            <a:ext cx="9450978" cy="3228796"/>
          </a:xfrm>
          <a:prstGeom prst="roundRect">
            <a:avLst>
              <a:gd name="adj" fmla="val 6420"/>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r>
              <a:rPr lang="vi-VN" sz="2800" b="1" dirty="0"/>
              <a:t>IDE AWS Cloud9 cung cấp một trải nghiệm chỉnh sửa mã phong phú với hỗ trợ cho một số ngôn ngữ lập trình và trình gỡ lỗi thời gian chạy, và một bộ điều khiển tích hợp. Nó chứa một bộ công cụ mà bạn sử dụng để viết mã, xây dựng, chạy, kiểm thử và gỡ lỗi phần mềm, và giúp bạn phát hành phần mềm lên đám mây.</a:t>
            </a:r>
            <a:endParaRPr lang="en-US" sz="2800" b="1" dirty="0"/>
          </a:p>
        </p:txBody>
      </p:sp>
      <p:sp>
        <p:nvSpPr>
          <p:cNvPr id="5" name="Hình chữ nhật: Góc Tròn 4">
            <a:extLst>
              <a:ext uri="{FF2B5EF4-FFF2-40B4-BE49-F238E27FC236}">
                <a16:creationId xmlns:a16="http://schemas.microsoft.com/office/drawing/2014/main" id="{204FEDE0-CDFD-3A38-3E5E-B23F06C3A352}"/>
              </a:ext>
            </a:extLst>
          </p:cNvPr>
          <p:cNvSpPr/>
          <p:nvPr/>
        </p:nvSpPr>
        <p:spPr>
          <a:xfrm>
            <a:off x="235947" y="1647825"/>
            <a:ext cx="9450978" cy="1371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l"/>
            <a:r>
              <a:rPr lang="vi-VN" sz="2800" b="1" dirty="0">
                <a:solidFill>
                  <a:schemeClr val="tx1"/>
                </a:solidFill>
              </a:rPr>
              <a:t>AWS Cloud9 là một môi trường phát triển tích hợp, hoặc IDE</a:t>
            </a:r>
            <a:r>
              <a:rPr lang="en-US" sz="2800" b="1" dirty="0">
                <a:solidFill>
                  <a:schemeClr val="tx1"/>
                </a:solidFill>
              </a:rPr>
              <a:t> </a:t>
            </a:r>
            <a:r>
              <a:rPr lang="en-US" sz="2400" b="1" i="1" dirty="0">
                <a:solidFill>
                  <a:schemeClr val="tx1"/>
                </a:solidFill>
              </a:rPr>
              <a:t>(</a:t>
            </a:r>
            <a:r>
              <a:rPr lang="vi-VN" sz="2400" b="1" i="1" dirty="0" err="1">
                <a:solidFill>
                  <a:schemeClr val="tx1"/>
                </a:solidFill>
              </a:rPr>
              <a:t>Integrated</a:t>
            </a:r>
            <a:r>
              <a:rPr lang="vi-VN" sz="2400" b="1" i="1" dirty="0">
                <a:solidFill>
                  <a:schemeClr val="tx1"/>
                </a:solidFill>
              </a:rPr>
              <a:t> </a:t>
            </a:r>
            <a:r>
              <a:rPr lang="vi-VN" sz="2400" b="1" i="1" dirty="0" err="1">
                <a:solidFill>
                  <a:schemeClr val="tx1"/>
                </a:solidFill>
              </a:rPr>
              <a:t>Development</a:t>
            </a:r>
            <a:r>
              <a:rPr lang="vi-VN" sz="2400" b="1" i="1" dirty="0">
                <a:solidFill>
                  <a:schemeClr val="tx1"/>
                </a:solidFill>
              </a:rPr>
              <a:t> </a:t>
            </a:r>
            <a:r>
              <a:rPr lang="vi-VN" sz="2400" b="1" i="1" dirty="0" err="1">
                <a:solidFill>
                  <a:schemeClr val="tx1"/>
                </a:solidFill>
              </a:rPr>
              <a:t>Environment</a:t>
            </a:r>
            <a:r>
              <a:rPr lang="en-US" sz="2400" b="1" i="1" dirty="0">
                <a:solidFill>
                  <a:schemeClr val="tx1"/>
                </a:solidFill>
              </a:rPr>
              <a:t>)</a:t>
            </a:r>
            <a:endParaRPr lang="vi-VN" sz="2800" b="1" i="1" dirty="0">
              <a:solidFill>
                <a:schemeClr val="tx1"/>
              </a:solidFill>
            </a:endParaRPr>
          </a:p>
        </p:txBody>
      </p:sp>
    </p:spTree>
    <p:extLst>
      <p:ext uri="{BB962C8B-B14F-4D97-AF65-F5344CB8AC3E}">
        <p14:creationId xmlns:p14="http://schemas.microsoft.com/office/powerpoint/2010/main" val="590974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794004" y="2324100"/>
            <a:ext cx="8799006" cy="859055"/>
          </a:xfrm>
        </p:spPr>
        <p:txBody>
          <a:bodyPr>
            <a:normAutofit/>
          </a:bodyPr>
          <a:lstStyle/>
          <a:p>
            <a:r>
              <a:rPr lang="en-US" dirty="0" err="1"/>
              <a:t>Lợi</a:t>
            </a:r>
            <a:r>
              <a:rPr lang="en-US" dirty="0"/>
              <a:t> </a:t>
            </a:r>
            <a:r>
              <a:rPr lang="en-US" dirty="0" err="1"/>
              <a:t>ích</a:t>
            </a:r>
            <a:r>
              <a:rPr lang="en-US" dirty="0"/>
              <a:t> </a:t>
            </a:r>
            <a:r>
              <a:rPr lang="en-US" dirty="0" err="1"/>
              <a:t>khi</a:t>
            </a:r>
            <a:r>
              <a:rPr lang="en-US" dirty="0"/>
              <a:t> </a:t>
            </a:r>
            <a:r>
              <a:rPr lang="en-US" dirty="0" err="1"/>
              <a:t>dùng</a:t>
            </a:r>
            <a:r>
              <a:rPr lang="en-US" dirty="0"/>
              <a:t> AWS Cloud9</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17" name="Hình chữ nhật: Góc Tròn 16">
            <a:extLst>
              <a:ext uri="{FF2B5EF4-FFF2-40B4-BE49-F238E27FC236}">
                <a16:creationId xmlns:a16="http://schemas.microsoft.com/office/drawing/2014/main" id="{461ACC72-44DF-5652-0B61-9794FDF8BB1C}"/>
              </a:ext>
            </a:extLst>
          </p:cNvPr>
          <p:cNvSpPr/>
          <p:nvPr/>
        </p:nvSpPr>
        <p:spPr>
          <a:xfrm>
            <a:off x="995971" y="7503134"/>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5400" b="1" i="0" dirty="0" err="1">
                <a:solidFill>
                  <a:schemeClr val="bg1"/>
                </a:solidFill>
                <a:effectLst/>
                <a:latin typeface="Söhne"/>
              </a:rPr>
              <a:t>Tích</a:t>
            </a:r>
            <a:r>
              <a:rPr lang="en-US" sz="5400" b="1" i="0" dirty="0">
                <a:solidFill>
                  <a:schemeClr val="bg1"/>
                </a:solidFill>
                <a:effectLst/>
                <a:latin typeface="Söhne"/>
              </a:rPr>
              <a:t> </a:t>
            </a:r>
            <a:r>
              <a:rPr lang="en-US" sz="5400" b="1" i="0" dirty="0" err="1">
                <a:solidFill>
                  <a:schemeClr val="bg1"/>
                </a:solidFill>
                <a:effectLst/>
                <a:latin typeface="Söhne"/>
              </a:rPr>
              <a:t>hợp</a:t>
            </a:r>
            <a:r>
              <a:rPr lang="en-US" sz="5400" b="1" i="0" dirty="0">
                <a:solidFill>
                  <a:schemeClr val="bg1"/>
                </a:solidFill>
                <a:effectLst/>
                <a:latin typeface="Söhne"/>
              </a:rPr>
              <a:t> Git</a:t>
            </a:r>
          </a:p>
        </p:txBody>
      </p:sp>
      <p:sp>
        <p:nvSpPr>
          <p:cNvPr id="18" name="Hình chữ nhật: Góc Tròn 17">
            <a:extLst>
              <a:ext uri="{FF2B5EF4-FFF2-40B4-BE49-F238E27FC236}">
                <a16:creationId xmlns:a16="http://schemas.microsoft.com/office/drawing/2014/main" id="{CB7A9FF9-AF95-6AC7-2D84-2CD99A650472}"/>
              </a:ext>
            </a:extLst>
          </p:cNvPr>
          <p:cNvSpPr/>
          <p:nvPr/>
        </p:nvSpPr>
        <p:spPr>
          <a:xfrm>
            <a:off x="6560005" y="7503134"/>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vi-VN" sz="5400" b="1" i="0" dirty="0">
                <a:solidFill>
                  <a:schemeClr val="bg1"/>
                </a:solidFill>
                <a:effectLst/>
                <a:latin typeface="Söhne"/>
              </a:rPr>
              <a:t>Truy cập từ xa</a:t>
            </a:r>
          </a:p>
        </p:txBody>
      </p:sp>
      <p:sp>
        <p:nvSpPr>
          <p:cNvPr id="19" name="Hình chữ nhật: Góc Tròn 18">
            <a:extLst>
              <a:ext uri="{FF2B5EF4-FFF2-40B4-BE49-F238E27FC236}">
                <a16:creationId xmlns:a16="http://schemas.microsoft.com/office/drawing/2014/main" id="{2F2DB50C-C752-5C33-A7DA-E4A1D46D31F0}"/>
              </a:ext>
            </a:extLst>
          </p:cNvPr>
          <p:cNvSpPr/>
          <p:nvPr/>
        </p:nvSpPr>
        <p:spPr>
          <a:xfrm>
            <a:off x="3845949" y="9763215"/>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5400" b="1" i="0" dirty="0" err="1">
                <a:solidFill>
                  <a:schemeClr val="bg1"/>
                </a:solidFill>
                <a:effectLst/>
                <a:latin typeface="Söhne"/>
              </a:rPr>
              <a:t>Gỡ</a:t>
            </a:r>
            <a:r>
              <a:rPr lang="en-US" sz="5400" b="1" i="0" dirty="0">
                <a:solidFill>
                  <a:schemeClr val="bg1"/>
                </a:solidFill>
                <a:effectLst/>
                <a:latin typeface="Söhne"/>
              </a:rPr>
              <a:t> </a:t>
            </a:r>
            <a:r>
              <a:rPr lang="en-US" sz="5400" b="1" i="0" dirty="0" err="1">
                <a:solidFill>
                  <a:schemeClr val="bg1"/>
                </a:solidFill>
                <a:effectLst/>
                <a:latin typeface="Söhne"/>
              </a:rPr>
              <a:t>lỗi</a:t>
            </a:r>
            <a:endParaRPr lang="en-US" sz="5400" b="1" i="0" dirty="0">
              <a:solidFill>
                <a:schemeClr val="bg1"/>
              </a:solidFill>
              <a:effectLst/>
              <a:latin typeface="Söhne"/>
            </a:endParaRPr>
          </a:p>
        </p:txBody>
      </p:sp>
    </p:spTree>
    <p:extLst>
      <p:ext uri="{BB962C8B-B14F-4D97-AF65-F5344CB8AC3E}">
        <p14:creationId xmlns:p14="http://schemas.microsoft.com/office/powerpoint/2010/main" val="347360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0" y="228600"/>
            <a:ext cx="8799006" cy="859055"/>
          </a:xfrm>
        </p:spPr>
        <p:txBody>
          <a:bodyPr>
            <a:normAutofit/>
          </a:bodyPr>
          <a:lstStyle/>
          <a:p>
            <a:r>
              <a:rPr lang="en-US" dirty="0" err="1"/>
              <a:t>Lợi</a:t>
            </a:r>
            <a:r>
              <a:rPr lang="en-US" dirty="0"/>
              <a:t> </a:t>
            </a:r>
            <a:r>
              <a:rPr lang="en-US" dirty="0" err="1"/>
              <a:t>ích</a:t>
            </a:r>
            <a:r>
              <a:rPr lang="en-US" dirty="0"/>
              <a:t> </a:t>
            </a:r>
            <a:r>
              <a:rPr lang="en-US" dirty="0" err="1"/>
              <a:t>khi</a:t>
            </a:r>
            <a:r>
              <a:rPr lang="en-US" dirty="0"/>
              <a:t> </a:t>
            </a:r>
            <a:r>
              <a:rPr lang="en-US" dirty="0" err="1"/>
              <a:t>dùng</a:t>
            </a:r>
            <a:r>
              <a:rPr lang="en-US" dirty="0"/>
              <a:t> AWS Cloud9</a:t>
            </a:r>
          </a:p>
        </p:txBody>
      </p:sp>
      <p:sp>
        <p:nvSpPr>
          <p:cNvPr id="9" name="Hình chữ nhật: Góc Tròn 8">
            <a:hlinkClick r:id="rId2" action="ppaction://hlinksldjump"/>
            <a:extLst>
              <a:ext uri="{FF2B5EF4-FFF2-40B4-BE49-F238E27FC236}">
                <a16:creationId xmlns:a16="http://schemas.microsoft.com/office/drawing/2014/main" id="{1FD030D6-5181-8F79-A1F8-E4447DF2AFD3}"/>
              </a:ext>
            </a:extLst>
          </p:cNvPr>
          <p:cNvSpPr>
            <a:spLocks/>
          </p:cNvSpPr>
          <p:nvPr/>
        </p:nvSpPr>
        <p:spPr>
          <a:xfrm>
            <a:off x="984921" y="2046231"/>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Tích</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hợp</a:t>
            </a:r>
            <a:r>
              <a:rPr kumimoji="0" lang="en-US" sz="5400" b="1" i="0" u="none" strike="noStrike" kern="1200" cap="none" spc="0" normalizeH="0" baseline="0" noProof="0" dirty="0">
                <a:ln>
                  <a:noFill/>
                </a:ln>
                <a:solidFill>
                  <a:prstClr val="black"/>
                </a:solidFill>
                <a:effectLst/>
                <a:uLnTx/>
                <a:uFillTx/>
                <a:latin typeface="Söhne"/>
                <a:ea typeface="+mn-ea"/>
                <a:cs typeface="+mn-cs"/>
              </a:rPr>
              <a:t> Git</a:t>
            </a:r>
          </a:p>
        </p:txBody>
      </p:sp>
      <p:sp>
        <p:nvSpPr>
          <p:cNvPr id="10" name="Hình chữ nhật: Góc Tròn 9">
            <a:hlinkClick r:id="rId3" action="ppaction://hlinksldjump"/>
            <a:extLst>
              <a:ext uri="{FF2B5EF4-FFF2-40B4-BE49-F238E27FC236}">
                <a16:creationId xmlns:a16="http://schemas.microsoft.com/office/drawing/2014/main" id="{5A13DD74-1237-43C9-0214-BA74E1A3EEDA}"/>
              </a:ext>
            </a:extLst>
          </p:cNvPr>
          <p:cNvSpPr/>
          <p:nvPr/>
        </p:nvSpPr>
        <p:spPr>
          <a:xfrm>
            <a:off x="6548955" y="2046231"/>
            <a:ext cx="4500102" cy="1880637"/>
          </a:xfrm>
          <a:prstGeom prst="roundRect">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5400" b="1" i="0" u="none" strike="noStrike" kern="1200" cap="none" spc="0" normalizeH="0" baseline="0" noProof="0" dirty="0">
                <a:ln>
                  <a:noFill/>
                </a:ln>
                <a:solidFill>
                  <a:prstClr val="black"/>
                </a:solidFill>
                <a:effectLst/>
                <a:uLnTx/>
                <a:uFillTx/>
                <a:latin typeface="Söhne"/>
                <a:ea typeface="+mn-ea"/>
                <a:cs typeface="+mn-cs"/>
              </a:rPr>
              <a:t>Truy cập từ xa</a:t>
            </a:r>
          </a:p>
        </p:txBody>
      </p:sp>
      <p:sp>
        <p:nvSpPr>
          <p:cNvPr id="11" name="Hình chữ nhật: Góc Tròn 10">
            <a:hlinkClick r:id="rId4" action="ppaction://hlinksldjump"/>
            <a:extLst>
              <a:ext uri="{FF2B5EF4-FFF2-40B4-BE49-F238E27FC236}">
                <a16:creationId xmlns:a16="http://schemas.microsoft.com/office/drawing/2014/main" id="{A7FA45A6-3BF4-7D60-68A1-4505F2E742C7}"/>
              </a:ext>
            </a:extLst>
          </p:cNvPr>
          <p:cNvSpPr/>
          <p:nvPr/>
        </p:nvSpPr>
        <p:spPr>
          <a:xfrm>
            <a:off x="3834899" y="4306312"/>
            <a:ext cx="4500102" cy="1880637"/>
          </a:xfrm>
          <a:prstGeom prst="roundRect">
            <a:avLst/>
          </a:prstGeom>
          <a:solidFill>
            <a:schemeClr val="accent3"/>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Gỡ</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lỗi</a:t>
            </a:r>
            <a:endParaRPr kumimoji="0" lang="en-US" sz="5400" b="1" i="0" u="none" strike="noStrike" kern="1200" cap="none" spc="0" normalizeH="0" baseline="0" noProof="0" dirty="0">
              <a:ln>
                <a:noFill/>
              </a:ln>
              <a:solidFill>
                <a:prstClr val="black"/>
              </a:solidFill>
              <a:effectLst/>
              <a:uLnTx/>
              <a:uFillTx/>
              <a:latin typeface="Söhne"/>
              <a:ea typeface="+mn-ea"/>
              <a:cs typeface="+mn-cs"/>
            </a:endParaRPr>
          </a:p>
        </p:txBody>
      </p:sp>
    </p:spTree>
    <p:extLst>
      <p:ext uri="{BB962C8B-B14F-4D97-AF65-F5344CB8AC3E}">
        <p14:creationId xmlns:p14="http://schemas.microsoft.com/office/powerpoint/2010/main" val="3983263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2">
            <a:extLst>
              <a:ext uri="{FF2B5EF4-FFF2-40B4-BE49-F238E27FC236}">
                <a16:creationId xmlns:a16="http://schemas.microsoft.com/office/drawing/2014/main" id="{718B8D87-1D1A-D18B-BC54-47002EA75EF4}"/>
              </a:ext>
            </a:extLst>
          </p:cNvPr>
          <p:cNvSpPr/>
          <p:nvPr/>
        </p:nvSpPr>
        <p:spPr>
          <a:xfrm>
            <a:off x="571500" y="177800"/>
            <a:ext cx="11049000" cy="6502400"/>
          </a:xfrm>
          <a:prstGeom prst="rect">
            <a:avLst/>
          </a:prstGeom>
          <a:noFill/>
        </p:spPr>
      </p:sp>
      <p:sp>
        <p:nvSpPr>
          <p:cNvPr id="4" name="Hình tự do: Hình 3">
            <a:extLst>
              <a:ext uri="{FF2B5EF4-FFF2-40B4-BE49-F238E27FC236}">
                <a16:creationId xmlns:a16="http://schemas.microsoft.com/office/drawing/2014/main" id="{FE5ACCA2-FB9D-D477-E92A-9D31E5469212}"/>
              </a:ext>
            </a:extLst>
          </p:cNvPr>
          <p:cNvSpPr/>
          <p:nvPr/>
        </p:nvSpPr>
        <p:spPr>
          <a:xfrm>
            <a:off x="571500" y="236654"/>
            <a:ext cx="11049000" cy="2053350"/>
          </a:xfrm>
          <a:custGeom>
            <a:avLst/>
            <a:gdLst>
              <a:gd name="connsiteX0" fmla="*/ 0 w 11049000"/>
              <a:gd name="connsiteY0" fmla="*/ 342232 h 2053350"/>
              <a:gd name="connsiteX1" fmla="*/ 342232 w 11049000"/>
              <a:gd name="connsiteY1" fmla="*/ 0 h 2053350"/>
              <a:gd name="connsiteX2" fmla="*/ 10706768 w 11049000"/>
              <a:gd name="connsiteY2" fmla="*/ 0 h 2053350"/>
              <a:gd name="connsiteX3" fmla="*/ 11049000 w 11049000"/>
              <a:gd name="connsiteY3" fmla="*/ 342232 h 2053350"/>
              <a:gd name="connsiteX4" fmla="*/ 11049000 w 11049000"/>
              <a:gd name="connsiteY4" fmla="*/ 1711118 h 2053350"/>
              <a:gd name="connsiteX5" fmla="*/ 10706768 w 11049000"/>
              <a:gd name="connsiteY5" fmla="*/ 2053350 h 2053350"/>
              <a:gd name="connsiteX6" fmla="*/ 342232 w 11049000"/>
              <a:gd name="connsiteY6" fmla="*/ 2053350 h 2053350"/>
              <a:gd name="connsiteX7" fmla="*/ 0 w 11049000"/>
              <a:gd name="connsiteY7" fmla="*/ 1711118 h 2053350"/>
              <a:gd name="connsiteX8" fmla="*/ 0 w 11049000"/>
              <a:gd name="connsiteY8" fmla="*/ 342232 h 205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49000" h="2053350">
                <a:moveTo>
                  <a:pt x="0" y="342232"/>
                </a:moveTo>
                <a:cubicBezTo>
                  <a:pt x="0" y="153222"/>
                  <a:pt x="153222" y="0"/>
                  <a:pt x="342232" y="0"/>
                </a:cubicBezTo>
                <a:lnTo>
                  <a:pt x="10706768" y="0"/>
                </a:lnTo>
                <a:cubicBezTo>
                  <a:pt x="10895778" y="0"/>
                  <a:pt x="11049000" y="153222"/>
                  <a:pt x="11049000" y="342232"/>
                </a:cubicBezTo>
                <a:lnTo>
                  <a:pt x="11049000" y="1711118"/>
                </a:lnTo>
                <a:cubicBezTo>
                  <a:pt x="11049000" y="1900128"/>
                  <a:pt x="10895778" y="2053350"/>
                  <a:pt x="10706768" y="2053350"/>
                </a:cubicBezTo>
                <a:lnTo>
                  <a:pt x="342232" y="2053350"/>
                </a:lnTo>
                <a:cubicBezTo>
                  <a:pt x="153222" y="2053350"/>
                  <a:pt x="0" y="1900128"/>
                  <a:pt x="0" y="1711118"/>
                </a:cubicBezTo>
                <a:lnTo>
                  <a:pt x="0" y="342232"/>
                </a:lnTo>
                <a:close/>
              </a:path>
            </a:pathLst>
          </a:custGeom>
          <a:ln>
            <a:solidFill>
              <a:schemeClr val="tx1"/>
            </a:solidFill>
          </a:ln>
        </p:spPr>
        <p:style>
          <a:lnRef idx="0">
            <a:scrgbClr r="0" g="0" b="0"/>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48826" tIns="248826" rIns="248826" bIns="248826" numCol="1" spcCol="1270" anchor="ctr" anchorCtr="0">
            <a:noAutofit/>
          </a:bodyPr>
          <a:lstStyle/>
          <a:p>
            <a:pPr marL="0" lvl="0" indent="0" algn="l" defTabSz="1733550">
              <a:lnSpc>
                <a:spcPct val="90000"/>
              </a:lnSpc>
              <a:spcBef>
                <a:spcPct val="0"/>
              </a:spcBef>
              <a:spcAft>
                <a:spcPct val="35000"/>
              </a:spcAft>
              <a:buNone/>
            </a:pPr>
            <a:r>
              <a:rPr lang="en-US" sz="3900" b="1" i="0" kern="1200" dirty="0">
                <a:solidFill>
                  <a:schemeClr val="bg1"/>
                </a:solidFill>
              </a:rPr>
              <a:t>AWS Cloud9 </a:t>
            </a:r>
            <a:r>
              <a:rPr lang="en-US" sz="3900" b="1" i="0" kern="1200" dirty="0" err="1">
                <a:solidFill>
                  <a:schemeClr val="bg1"/>
                </a:solidFill>
              </a:rPr>
              <a:t>cung</a:t>
            </a:r>
            <a:r>
              <a:rPr lang="en-US" sz="3900" b="1" i="0" kern="1200" dirty="0">
                <a:solidFill>
                  <a:schemeClr val="bg1"/>
                </a:solidFill>
              </a:rPr>
              <a:t> </a:t>
            </a:r>
            <a:r>
              <a:rPr lang="en-US" sz="3900" b="1" i="0" kern="1200" dirty="0" err="1">
                <a:solidFill>
                  <a:schemeClr val="bg1"/>
                </a:solidFill>
              </a:rPr>
              <a:t>cấp</a:t>
            </a:r>
            <a:r>
              <a:rPr lang="en-US" sz="3900" b="1" i="0" kern="1200" dirty="0">
                <a:solidFill>
                  <a:schemeClr val="bg1"/>
                </a:solidFill>
              </a:rPr>
              <a:t> </a:t>
            </a:r>
            <a:r>
              <a:rPr lang="en-US" sz="3900" b="1" i="0" kern="1200" dirty="0" err="1">
                <a:solidFill>
                  <a:schemeClr val="bg1"/>
                </a:solidFill>
              </a:rPr>
              <a:t>tích</a:t>
            </a:r>
            <a:r>
              <a:rPr lang="en-US" sz="3900" b="1" i="0" kern="1200" dirty="0">
                <a:solidFill>
                  <a:schemeClr val="bg1"/>
                </a:solidFill>
              </a:rPr>
              <a:t> </a:t>
            </a:r>
            <a:r>
              <a:rPr lang="en-US" sz="3900" b="1" i="0" kern="1200" dirty="0" err="1">
                <a:solidFill>
                  <a:schemeClr val="bg1"/>
                </a:solidFill>
              </a:rPr>
              <a:t>hợp</a:t>
            </a:r>
            <a:r>
              <a:rPr lang="en-US" sz="3900" b="1" i="0" kern="1200" dirty="0">
                <a:solidFill>
                  <a:schemeClr val="bg1"/>
                </a:solidFill>
              </a:rPr>
              <a:t> Git </a:t>
            </a:r>
            <a:r>
              <a:rPr lang="en-US" sz="3900" b="1" i="0" kern="1200" dirty="0" err="1">
                <a:solidFill>
                  <a:schemeClr val="bg1"/>
                </a:solidFill>
              </a:rPr>
              <a:t>mạnh</a:t>
            </a:r>
            <a:r>
              <a:rPr lang="en-US" sz="3900" b="1" i="0" kern="1200" dirty="0">
                <a:solidFill>
                  <a:schemeClr val="bg1"/>
                </a:solidFill>
              </a:rPr>
              <a:t> </a:t>
            </a:r>
            <a:r>
              <a:rPr lang="en-US" sz="3900" b="1" i="0" kern="1200" dirty="0" err="1">
                <a:solidFill>
                  <a:schemeClr val="bg1"/>
                </a:solidFill>
              </a:rPr>
              <a:t>mẽ</a:t>
            </a:r>
            <a:r>
              <a:rPr lang="en-US" sz="3900" b="1" i="0" kern="1200" dirty="0">
                <a:solidFill>
                  <a:schemeClr val="bg1"/>
                </a:solidFill>
              </a:rPr>
              <a:t> </a:t>
            </a:r>
            <a:r>
              <a:rPr lang="en-US" sz="3900" b="1" i="0" kern="1200" dirty="0" err="1">
                <a:solidFill>
                  <a:schemeClr val="bg1"/>
                </a:solidFill>
              </a:rPr>
              <a:t>cho</a:t>
            </a:r>
            <a:r>
              <a:rPr lang="en-US" sz="3900" b="1" i="0" kern="1200" dirty="0">
                <a:solidFill>
                  <a:schemeClr val="bg1"/>
                </a:solidFill>
              </a:rPr>
              <a:t> </a:t>
            </a:r>
            <a:r>
              <a:rPr lang="en-US" sz="3900" b="1" i="0" kern="1200" dirty="0" err="1">
                <a:solidFill>
                  <a:schemeClr val="bg1"/>
                </a:solidFill>
              </a:rPr>
              <a:t>phép</a:t>
            </a:r>
            <a:r>
              <a:rPr lang="en-US" sz="3900" b="1" i="0" kern="1200" dirty="0">
                <a:solidFill>
                  <a:schemeClr val="bg1"/>
                </a:solidFill>
              </a:rPr>
              <a:t> </a:t>
            </a:r>
            <a:r>
              <a:rPr lang="en-US" sz="3900" b="1" i="0" kern="1200" dirty="0" err="1">
                <a:solidFill>
                  <a:schemeClr val="bg1"/>
                </a:solidFill>
              </a:rPr>
              <a:t>lập</a:t>
            </a:r>
            <a:r>
              <a:rPr lang="en-US" sz="3900" b="1" i="0" kern="1200" dirty="0">
                <a:solidFill>
                  <a:schemeClr val="bg1"/>
                </a:solidFill>
              </a:rPr>
              <a:t> </a:t>
            </a:r>
            <a:r>
              <a:rPr lang="en-US" sz="3900" b="1" i="0" kern="1200" dirty="0" err="1">
                <a:solidFill>
                  <a:schemeClr val="bg1"/>
                </a:solidFill>
              </a:rPr>
              <a:t>trình</a:t>
            </a:r>
            <a:r>
              <a:rPr lang="en-US" sz="3900" b="1" i="0" kern="1200" dirty="0">
                <a:solidFill>
                  <a:schemeClr val="bg1"/>
                </a:solidFill>
              </a:rPr>
              <a:t> </a:t>
            </a:r>
            <a:r>
              <a:rPr lang="en-US" sz="3900" b="1" i="0" kern="1200" dirty="0" err="1">
                <a:solidFill>
                  <a:schemeClr val="bg1"/>
                </a:solidFill>
              </a:rPr>
              <a:t>viên</a:t>
            </a:r>
            <a:r>
              <a:rPr lang="en-US" sz="3900" b="1" i="0" kern="1200" dirty="0">
                <a:solidFill>
                  <a:schemeClr val="bg1"/>
                </a:solidFill>
              </a:rPr>
              <a:t> </a:t>
            </a:r>
            <a:r>
              <a:rPr lang="en-US" sz="3900" b="1" i="0" kern="1200" dirty="0" err="1">
                <a:solidFill>
                  <a:schemeClr val="bg1"/>
                </a:solidFill>
              </a:rPr>
              <a:t>quản</a:t>
            </a:r>
            <a:r>
              <a:rPr lang="en-US" sz="3900" b="1" i="0" kern="1200" dirty="0">
                <a:solidFill>
                  <a:schemeClr val="bg1"/>
                </a:solidFill>
              </a:rPr>
              <a:t> </a:t>
            </a:r>
            <a:r>
              <a:rPr lang="en-US" sz="3900" b="1" i="0" kern="1200" dirty="0" err="1">
                <a:solidFill>
                  <a:schemeClr val="bg1"/>
                </a:solidFill>
              </a:rPr>
              <a:t>lý</a:t>
            </a:r>
            <a:r>
              <a:rPr lang="en-US" sz="3900" b="1" i="0" kern="1200" dirty="0">
                <a:solidFill>
                  <a:schemeClr val="bg1"/>
                </a:solidFill>
              </a:rPr>
              <a:t> </a:t>
            </a:r>
            <a:r>
              <a:rPr lang="en-US" sz="3900" b="1" i="0" kern="1200" dirty="0" err="1">
                <a:solidFill>
                  <a:schemeClr val="bg1"/>
                </a:solidFill>
              </a:rPr>
              <a:t>phiên</a:t>
            </a:r>
            <a:r>
              <a:rPr lang="en-US" sz="3900" b="1" i="0" kern="1200" dirty="0">
                <a:solidFill>
                  <a:schemeClr val="bg1"/>
                </a:solidFill>
              </a:rPr>
              <a:t> </a:t>
            </a:r>
            <a:r>
              <a:rPr lang="en-US" sz="3900" b="1" i="0" kern="1200" dirty="0" err="1">
                <a:solidFill>
                  <a:schemeClr val="bg1"/>
                </a:solidFill>
              </a:rPr>
              <a:t>bản</a:t>
            </a:r>
            <a:r>
              <a:rPr lang="en-US" sz="3900" b="1" i="0" kern="1200" dirty="0">
                <a:solidFill>
                  <a:schemeClr val="bg1"/>
                </a:solidFill>
              </a:rPr>
              <a:t> </a:t>
            </a:r>
            <a:r>
              <a:rPr lang="en-US" sz="3900" b="1" i="0" kern="1200" dirty="0" err="1">
                <a:solidFill>
                  <a:schemeClr val="bg1"/>
                </a:solidFill>
              </a:rPr>
              <a:t>mã</a:t>
            </a:r>
            <a:r>
              <a:rPr lang="en-US" sz="3900" b="1" i="0" kern="1200" dirty="0">
                <a:solidFill>
                  <a:schemeClr val="bg1"/>
                </a:solidFill>
              </a:rPr>
              <a:t> </a:t>
            </a:r>
            <a:r>
              <a:rPr lang="en-US" sz="3900" b="1" i="0" kern="1200" dirty="0" err="1">
                <a:solidFill>
                  <a:schemeClr val="bg1"/>
                </a:solidFill>
              </a:rPr>
              <a:t>nguồn</a:t>
            </a:r>
            <a:r>
              <a:rPr lang="en-US" sz="3900" b="1" i="0" kern="1200" dirty="0">
                <a:solidFill>
                  <a:schemeClr val="bg1"/>
                </a:solidFill>
              </a:rPr>
              <a:t> </a:t>
            </a:r>
            <a:r>
              <a:rPr lang="en-US" sz="3900" b="1" i="0" kern="1200" dirty="0" err="1">
                <a:solidFill>
                  <a:schemeClr val="bg1"/>
                </a:solidFill>
              </a:rPr>
              <a:t>một</a:t>
            </a:r>
            <a:r>
              <a:rPr lang="en-US" sz="3900" b="1" i="0" kern="1200" dirty="0">
                <a:solidFill>
                  <a:schemeClr val="bg1"/>
                </a:solidFill>
              </a:rPr>
              <a:t> </a:t>
            </a:r>
            <a:r>
              <a:rPr lang="en-US" sz="3900" b="1" i="0" kern="1200" dirty="0" err="1">
                <a:solidFill>
                  <a:schemeClr val="bg1"/>
                </a:solidFill>
              </a:rPr>
              <a:t>cách</a:t>
            </a:r>
            <a:r>
              <a:rPr lang="en-US" sz="3900" b="1" i="0" kern="1200" dirty="0">
                <a:solidFill>
                  <a:schemeClr val="bg1"/>
                </a:solidFill>
              </a:rPr>
              <a:t> </a:t>
            </a:r>
            <a:r>
              <a:rPr lang="en-US" sz="3900" b="1" i="0" kern="1200" dirty="0" err="1">
                <a:solidFill>
                  <a:schemeClr val="bg1"/>
                </a:solidFill>
              </a:rPr>
              <a:t>dễ</a:t>
            </a:r>
            <a:r>
              <a:rPr lang="en-US" sz="3900" b="1" i="0" kern="1200" dirty="0">
                <a:solidFill>
                  <a:schemeClr val="bg1"/>
                </a:solidFill>
              </a:rPr>
              <a:t> </a:t>
            </a:r>
            <a:r>
              <a:rPr lang="en-US" sz="3900" b="1" i="0" kern="1200" dirty="0" err="1">
                <a:solidFill>
                  <a:schemeClr val="bg1"/>
                </a:solidFill>
              </a:rPr>
              <a:t>dàng</a:t>
            </a:r>
            <a:endParaRPr lang="en-US" sz="3900" b="1" kern="1200" dirty="0">
              <a:solidFill>
                <a:schemeClr val="bg1"/>
              </a:solidFill>
            </a:endParaRPr>
          </a:p>
        </p:txBody>
      </p:sp>
      <p:sp>
        <p:nvSpPr>
          <p:cNvPr id="6" name="Hình tự do: Hình 5">
            <a:extLst>
              <a:ext uri="{FF2B5EF4-FFF2-40B4-BE49-F238E27FC236}">
                <a16:creationId xmlns:a16="http://schemas.microsoft.com/office/drawing/2014/main" id="{7531F433-381C-83EF-838C-CF8FCA907A2F}"/>
              </a:ext>
            </a:extLst>
          </p:cNvPr>
          <p:cNvSpPr/>
          <p:nvPr/>
        </p:nvSpPr>
        <p:spPr>
          <a:xfrm>
            <a:off x="571500" y="2402325"/>
            <a:ext cx="11049000" cy="2053350"/>
          </a:xfrm>
          <a:custGeom>
            <a:avLst/>
            <a:gdLst>
              <a:gd name="connsiteX0" fmla="*/ 0 w 11049000"/>
              <a:gd name="connsiteY0" fmla="*/ 342232 h 2053350"/>
              <a:gd name="connsiteX1" fmla="*/ 342232 w 11049000"/>
              <a:gd name="connsiteY1" fmla="*/ 0 h 2053350"/>
              <a:gd name="connsiteX2" fmla="*/ 10706768 w 11049000"/>
              <a:gd name="connsiteY2" fmla="*/ 0 h 2053350"/>
              <a:gd name="connsiteX3" fmla="*/ 11049000 w 11049000"/>
              <a:gd name="connsiteY3" fmla="*/ 342232 h 2053350"/>
              <a:gd name="connsiteX4" fmla="*/ 11049000 w 11049000"/>
              <a:gd name="connsiteY4" fmla="*/ 1711118 h 2053350"/>
              <a:gd name="connsiteX5" fmla="*/ 10706768 w 11049000"/>
              <a:gd name="connsiteY5" fmla="*/ 2053350 h 2053350"/>
              <a:gd name="connsiteX6" fmla="*/ 342232 w 11049000"/>
              <a:gd name="connsiteY6" fmla="*/ 2053350 h 2053350"/>
              <a:gd name="connsiteX7" fmla="*/ 0 w 11049000"/>
              <a:gd name="connsiteY7" fmla="*/ 1711118 h 2053350"/>
              <a:gd name="connsiteX8" fmla="*/ 0 w 11049000"/>
              <a:gd name="connsiteY8" fmla="*/ 342232 h 205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49000" h="2053350">
                <a:moveTo>
                  <a:pt x="0" y="342232"/>
                </a:moveTo>
                <a:cubicBezTo>
                  <a:pt x="0" y="153222"/>
                  <a:pt x="153222" y="0"/>
                  <a:pt x="342232" y="0"/>
                </a:cubicBezTo>
                <a:lnTo>
                  <a:pt x="10706768" y="0"/>
                </a:lnTo>
                <a:cubicBezTo>
                  <a:pt x="10895778" y="0"/>
                  <a:pt x="11049000" y="153222"/>
                  <a:pt x="11049000" y="342232"/>
                </a:cubicBezTo>
                <a:lnTo>
                  <a:pt x="11049000" y="1711118"/>
                </a:lnTo>
                <a:cubicBezTo>
                  <a:pt x="11049000" y="1900128"/>
                  <a:pt x="10895778" y="2053350"/>
                  <a:pt x="10706768" y="2053350"/>
                </a:cubicBezTo>
                <a:lnTo>
                  <a:pt x="342232" y="2053350"/>
                </a:lnTo>
                <a:cubicBezTo>
                  <a:pt x="153222" y="2053350"/>
                  <a:pt x="0" y="1900128"/>
                  <a:pt x="0" y="1711118"/>
                </a:cubicBezTo>
                <a:lnTo>
                  <a:pt x="0" y="342232"/>
                </a:lnTo>
                <a:close/>
              </a:path>
            </a:pathLst>
          </a:custGeom>
          <a:ln>
            <a:solidFill>
              <a:schemeClr val="tx1"/>
            </a:solidFill>
          </a:ln>
        </p:spPr>
        <p:style>
          <a:lnRef idx="0">
            <a:scrgbClr r="0" g="0" b="0"/>
          </a:lnRef>
          <a:fillRef idx="3">
            <a:schemeClr val="accent5">
              <a:hueOff val="-5399500"/>
              <a:satOff val="5955"/>
              <a:lumOff val="18529"/>
              <a:alphaOff val="0"/>
            </a:schemeClr>
          </a:fillRef>
          <a:effectRef idx="2">
            <a:schemeClr val="accent5">
              <a:hueOff val="-5399500"/>
              <a:satOff val="5955"/>
              <a:lumOff val="18529"/>
              <a:alphaOff val="0"/>
            </a:schemeClr>
          </a:effectRef>
          <a:fontRef idx="minor">
            <a:schemeClr val="lt1"/>
          </a:fontRef>
        </p:style>
        <p:txBody>
          <a:bodyPr spcFirstLastPara="0" vert="horz" wrap="square" lIns="248826" tIns="248826" rIns="248826" bIns="248826" numCol="1" spcCol="1270" anchor="ctr" anchorCtr="0">
            <a:noAutofit/>
          </a:bodyPr>
          <a:lstStyle/>
          <a:p>
            <a:pPr marL="0" lvl="0" indent="0" algn="l" defTabSz="1733550">
              <a:lnSpc>
                <a:spcPct val="90000"/>
              </a:lnSpc>
              <a:spcBef>
                <a:spcPct val="0"/>
              </a:spcBef>
              <a:spcAft>
                <a:spcPct val="35000"/>
              </a:spcAft>
              <a:buNone/>
            </a:pPr>
            <a:r>
              <a:rPr lang="en-US" sz="3900" b="1" i="0" kern="1200" dirty="0" err="1">
                <a:solidFill>
                  <a:schemeClr val="bg1"/>
                </a:solidFill>
              </a:rPr>
              <a:t>Với</a:t>
            </a:r>
            <a:r>
              <a:rPr lang="en-US" sz="3900" b="1" i="0" kern="1200" dirty="0">
                <a:solidFill>
                  <a:schemeClr val="bg1"/>
                </a:solidFill>
              </a:rPr>
              <a:t> </a:t>
            </a:r>
            <a:r>
              <a:rPr lang="en-US" sz="3900" b="1" i="0" kern="1200" dirty="0" err="1">
                <a:solidFill>
                  <a:schemeClr val="bg1"/>
                </a:solidFill>
              </a:rPr>
              <a:t>tích</a:t>
            </a:r>
            <a:r>
              <a:rPr lang="en-US" sz="3900" b="1" i="0" kern="1200" dirty="0">
                <a:solidFill>
                  <a:schemeClr val="bg1"/>
                </a:solidFill>
              </a:rPr>
              <a:t> </a:t>
            </a:r>
            <a:r>
              <a:rPr lang="en-US" sz="3900" b="1" i="0" kern="1200" dirty="0" err="1">
                <a:solidFill>
                  <a:schemeClr val="bg1"/>
                </a:solidFill>
              </a:rPr>
              <a:t>hợp</a:t>
            </a:r>
            <a:r>
              <a:rPr lang="en-US" sz="3900" b="1" i="0" kern="1200" dirty="0">
                <a:solidFill>
                  <a:schemeClr val="bg1"/>
                </a:solidFill>
              </a:rPr>
              <a:t> Git, </a:t>
            </a:r>
            <a:r>
              <a:rPr lang="en-US" sz="3900" b="1" i="0" kern="1200" dirty="0" err="1">
                <a:solidFill>
                  <a:schemeClr val="bg1"/>
                </a:solidFill>
              </a:rPr>
              <a:t>bạn</a:t>
            </a:r>
            <a:r>
              <a:rPr lang="en-US" sz="3900" b="1" i="0" kern="1200" dirty="0">
                <a:solidFill>
                  <a:schemeClr val="bg1"/>
                </a:solidFill>
              </a:rPr>
              <a:t> </a:t>
            </a:r>
            <a:r>
              <a:rPr lang="en-US" sz="3900" b="1" i="0" kern="1200" dirty="0" err="1">
                <a:solidFill>
                  <a:schemeClr val="bg1"/>
                </a:solidFill>
              </a:rPr>
              <a:t>có</a:t>
            </a:r>
            <a:r>
              <a:rPr lang="en-US" sz="3900" b="1" i="0" kern="1200" dirty="0">
                <a:solidFill>
                  <a:schemeClr val="bg1"/>
                </a:solidFill>
              </a:rPr>
              <a:t> </a:t>
            </a:r>
            <a:r>
              <a:rPr lang="en-US" sz="3900" b="1" i="0" kern="1200" dirty="0" err="1">
                <a:solidFill>
                  <a:schemeClr val="bg1"/>
                </a:solidFill>
              </a:rPr>
              <a:t>thể</a:t>
            </a:r>
            <a:r>
              <a:rPr lang="en-US" sz="3900" b="1" i="0" kern="1200" dirty="0">
                <a:solidFill>
                  <a:schemeClr val="bg1"/>
                </a:solidFill>
              </a:rPr>
              <a:t> </a:t>
            </a:r>
            <a:r>
              <a:rPr lang="en-US" sz="3900" b="1" i="0" kern="1200" dirty="0" err="1">
                <a:solidFill>
                  <a:schemeClr val="bg1"/>
                </a:solidFill>
              </a:rPr>
              <a:t>theo</a:t>
            </a:r>
            <a:r>
              <a:rPr lang="en-US" sz="3900" b="1" i="0" kern="1200" dirty="0">
                <a:solidFill>
                  <a:schemeClr val="bg1"/>
                </a:solidFill>
              </a:rPr>
              <a:t> </a:t>
            </a:r>
            <a:r>
              <a:rPr lang="en-US" sz="3900" b="1" i="0" kern="1200" dirty="0" err="1">
                <a:solidFill>
                  <a:schemeClr val="bg1"/>
                </a:solidFill>
              </a:rPr>
              <a:t>dõi</a:t>
            </a:r>
            <a:r>
              <a:rPr lang="en-US" sz="3900" b="1" i="0" kern="1200" dirty="0">
                <a:solidFill>
                  <a:schemeClr val="bg1"/>
                </a:solidFill>
              </a:rPr>
              <a:t> </a:t>
            </a:r>
            <a:r>
              <a:rPr lang="en-US" sz="3900" b="1" i="0" kern="1200" dirty="0" err="1">
                <a:solidFill>
                  <a:schemeClr val="bg1"/>
                </a:solidFill>
              </a:rPr>
              <a:t>sự</a:t>
            </a:r>
            <a:r>
              <a:rPr lang="en-US" sz="3900" b="1" i="0" kern="1200" dirty="0">
                <a:solidFill>
                  <a:schemeClr val="bg1"/>
                </a:solidFill>
              </a:rPr>
              <a:t> </a:t>
            </a:r>
            <a:r>
              <a:rPr lang="en-US" sz="3900" b="1" i="0" kern="1200" dirty="0" err="1">
                <a:solidFill>
                  <a:schemeClr val="bg1"/>
                </a:solidFill>
              </a:rPr>
              <a:t>thay</a:t>
            </a:r>
            <a:r>
              <a:rPr lang="en-US" sz="3900" b="1" i="0" kern="1200" dirty="0">
                <a:solidFill>
                  <a:schemeClr val="bg1"/>
                </a:solidFill>
              </a:rPr>
              <a:t> </a:t>
            </a:r>
            <a:r>
              <a:rPr lang="en-US" sz="3900" b="1" i="0" kern="1200" dirty="0" err="1">
                <a:solidFill>
                  <a:schemeClr val="bg1"/>
                </a:solidFill>
              </a:rPr>
              <a:t>đổi</a:t>
            </a:r>
            <a:r>
              <a:rPr lang="en-US" sz="3900" b="1" i="0" kern="1200" dirty="0">
                <a:solidFill>
                  <a:schemeClr val="bg1"/>
                </a:solidFill>
              </a:rPr>
              <a:t> </a:t>
            </a:r>
            <a:r>
              <a:rPr lang="en-US" sz="3900" b="1" i="0" kern="1200" dirty="0" err="1">
                <a:solidFill>
                  <a:schemeClr val="bg1"/>
                </a:solidFill>
              </a:rPr>
              <a:t>của</a:t>
            </a:r>
            <a:r>
              <a:rPr lang="en-US" sz="3900" b="1" i="0" kern="1200" dirty="0">
                <a:solidFill>
                  <a:schemeClr val="bg1"/>
                </a:solidFill>
              </a:rPr>
              <a:t> </a:t>
            </a:r>
            <a:r>
              <a:rPr lang="en-US" sz="3900" b="1" i="0" kern="1200" dirty="0" err="1">
                <a:solidFill>
                  <a:schemeClr val="bg1"/>
                </a:solidFill>
              </a:rPr>
              <a:t>mã</a:t>
            </a:r>
            <a:r>
              <a:rPr lang="en-US" sz="3900" b="1" i="0" kern="1200" dirty="0">
                <a:solidFill>
                  <a:schemeClr val="bg1"/>
                </a:solidFill>
              </a:rPr>
              <a:t> </a:t>
            </a:r>
            <a:r>
              <a:rPr lang="en-US" sz="3900" b="1" i="0" kern="1200" dirty="0" err="1">
                <a:solidFill>
                  <a:schemeClr val="bg1"/>
                </a:solidFill>
              </a:rPr>
              <a:t>nguồn</a:t>
            </a:r>
            <a:r>
              <a:rPr lang="en-US" sz="3900" b="1" i="0" kern="1200" dirty="0">
                <a:solidFill>
                  <a:schemeClr val="bg1"/>
                </a:solidFill>
              </a:rPr>
              <a:t>, </a:t>
            </a:r>
            <a:r>
              <a:rPr lang="en-US" sz="3900" b="1" i="0" kern="1200" dirty="0" err="1">
                <a:solidFill>
                  <a:schemeClr val="bg1"/>
                </a:solidFill>
              </a:rPr>
              <a:t>thực</a:t>
            </a:r>
            <a:r>
              <a:rPr lang="en-US" sz="3900" b="1" i="0" kern="1200" dirty="0">
                <a:solidFill>
                  <a:schemeClr val="bg1"/>
                </a:solidFill>
              </a:rPr>
              <a:t> </a:t>
            </a:r>
            <a:r>
              <a:rPr lang="en-US" sz="3900" b="1" i="0" kern="1200" dirty="0" err="1">
                <a:solidFill>
                  <a:schemeClr val="bg1"/>
                </a:solidFill>
              </a:rPr>
              <a:t>hiện</a:t>
            </a:r>
            <a:r>
              <a:rPr lang="en-US" sz="3900" b="1" i="0" kern="1200" dirty="0">
                <a:solidFill>
                  <a:schemeClr val="bg1"/>
                </a:solidFill>
              </a:rPr>
              <a:t> commit, push </a:t>
            </a:r>
            <a:r>
              <a:rPr lang="en-US" sz="3900" b="1" i="0" kern="1200" dirty="0" err="1">
                <a:solidFill>
                  <a:schemeClr val="bg1"/>
                </a:solidFill>
              </a:rPr>
              <a:t>và</a:t>
            </a:r>
            <a:r>
              <a:rPr lang="en-US" sz="3900" b="1" i="0" kern="1200" dirty="0">
                <a:solidFill>
                  <a:schemeClr val="bg1"/>
                </a:solidFill>
              </a:rPr>
              <a:t> pull </a:t>
            </a:r>
            <a:r>
              <a:rPr lang="en-US" sz="3900" b="1" i="0" kern="1200" dirty="0" err="1">
                <a:solidFill>
                  <a:schemeClr val="bg1"/>
                </a:solidFill>
              </a:rPr>
              <a:t>từ</a:t>
            </a:r>
            <a:r>
              <a:rPr lang="en-US" sz="3900" b="1" i="0" kern="1200" dirty="0">
                <a:solidFill>
                  <a:schemeClr val="bg1"/>
                </a:solidFill>
              </a:rPr>
              <a:t> </a:t>
            </a:r>
            <a:r>
              <a:rPr lang="en-US" sz="3900" b="1" i="0" kern="1200" dirty="0" err="1">
                <a:solidFill>
                  <a:schemeClr val="bg1"/>
                </a:solidFill>
              </a:rPr>
              <a:t>giao</a:t>
            </a:r>
            <a:r>
              <a:rPr lang="en-US" sz="3900" b="1" i="0" kern="1200" dirty="0">
                <a:solidFill>
                  <a:schemeClr val="bg1"/>
                </a:solidFill>
              </a:rPr>
              <a:t> </a:t>
            </a:r>
            <a:r>
              <a:rPr lang="en-US" sz="3900" b="1" i="0" kern="1200" dirty="0" err="1">
                <a:solidFill>
                  <a:schemeClr val="bg1"/>
                </a:solidFill>
              </a:rPr>
              <a:t>diện</a:t>
            </a:r>
            <a:r>
              <a:rPr lang="en-US" sz="3900" b="1" i="0" kern="1200" dirty="0">
                <a:solidFill>
                  <a:schemeClr val="bg1"/>
                </a:solidFill>
              </a:rPr>
              <a:t> Cloud9.</a:t>
            </a:r>
            <a:endParaRPr lang="en-US" sz="3900" b="1" kern="1200" dirty="0">
              <a:solidFill>
                <a:schemeClr val="bg1"/>
              </a:solidFill>
            </a:endParaRPr>
          </a:p>
        </p:txBody>
      </p:sp>
      <p:sp>
        <p:nvSpPr>
          <p:cNvPr id="7" name="Hình tự do: Hình 6">
            <a:extLst>
              <a:ext uri="{FF2B5EF4-FFF2-40B4-BE49-F238E27FC236}">
                <a16:creationId xmlns:a16="http://schemas.microsoft.com/office/drawing/2014/main" id="{56EFE5C8-CA93-98DA-E54F-DA39602A3C39}"/>
              </a:ext>
            </a:extLst>
          </p:cNvPr>
          <p:cNvSpPr/>
          <p:nvPr/>
        </p:nvSpPr>
        <p:spPr>
          <a:xfrm>
            <a:off x="571500" y="4567995"/>
            <a:ext cx="11049000" cy="2053350"/>
          </a:xfrm>
          <a:custGeom>
            <a:avLst/>
            <a:gdLst>
              <a:gd name="connsiteX0" fmla="*/ 0 w 11049000"/>
              <a:gd name="connsiteY0" fmla="*/ 342232 h 2053350"/>
              <a:gd name="connsiteX1" fmla="*/ 342232 w 11049000"/>
              <a:gd name="connsiteY1" fmla="*/ 0 h 2053350"/>
              <a:gd name="connsiteX2" fmla="*/ 10706768 w 11049000"/>
              <a:gd name="connsiteY2" fmla="*/ 0 h 2053350"/>
              <a:gd name="connsiteX3" fmla="*/ 11049000 w 11049000"/>
              <a:gd name="connsiteY3" fmla="*/ 342232 h 2053350"/>
              <a:gd name="connsiteX4" fmla="*/ 11049000 w 11049000"/>
              <a:gd name="connsiteY4" fmla="*/ 1711118 h 2053350"/>
              <a:gd name="connsiteX5" fmla="*/ 10706768 w 11049000"/>
              <a:gd name="connsiteY5" fmla="*/ 2053350 h 2053350"/>
              <a:gd name="connsiteX6" fmla="*/ 342232 w 11049000"/>
              <a:gd name="connsiteY6" fmla="*/ 2053350 h 2053350"/>
              <a:gd name="connsiteX7" fmla="*/ 0 w 11049000"/>
              <a:gd name="connsiteY7" fmla="*/ 1711118 h 2053350"/>
              <a:gd name="connsiteX8" fmla="*/ 0 w 11049000"/>
              <a:gd name="connsiteY8" fmla="*/ 342232 h 205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49000" h="2053350">
                <a:moveTo>
                  <a:pt x="0" y="342232"/>
                </a:moveTo>
                <a:cubicBezTo>
                  <a:pt x="0" y="153222"/>
                  <a:pt x="153222" y="0"/>
                  <a:pt x="342232" y="0"/>
                </a:cubicBezTo>
                <a:lnTo>
                  <a:pt x="10706768" y="0"/>
                </a:lnTo>
                <a:cubicBezTo>
                  <a:pt x="10895778" y="0"/>
                  <a:pt x="11049000" y="153222"/>
                  <a:pt x="11049000" y="342232"/>
                </a:cubicBezTo>
                <a:lnTo>
                  <a:pt x="11049000" y="1711118"/>
                </a:lnTo>
                <a:cubicBezTo>
                  <a:pt x="11049000" y="1900128"/>
                  <a:pt x="10895778" y="2053350"/>
                  <a:pt x="10706768" y="2053350"/>
                </a:cubicBezTo>
                <a:lnTo>
                  <a:pt x="342232" y="2053350"/>
                </a:lnTo>
                <a:cubicBezTo>
                  <a:pt x="153222" y="2053350"/>
                  <a:pt x="0" y="1900128"/>
                  <a:pt x="0" y="1711118"/>
                </a:cubicBezTo>
                <a:lnTo>
                  <a:pt x="0" y="342232"/>
                </a:lnTo>
                <a:close/>
              </a:path>
            </a:pathLst>
          </a:custGeom>
          <a:ln>
            <a:solidFill>
              <a:schemeClr val="tx1"/>
            </a:solidFill>
          </a:ln>
        </p:spPr>
        <p:style>
          <a:lnRef idx="0">
            <a:scrgbClr r="0" g="0" b="0"/>
          </a:lnRef>
          <a:fillRef idx="3">
            <a:schemeClr val="accent5">
              <a:hueOff val="-10798999"/>
              <a:satOff val="11910"/>
              <a:lumOff val="37057"/>
              <a:alphaOff val="0"/>
            </a:schemeClr>
          </a:fillRef>
          <a:effectRef idx="2">
            <a:schemeClr val="accent5">
              <a:hueOff val="-10798999"/>
              <a:satOff val="11910"/>
              <a:lumOff val="37057"/>
              <a:alphaOff val="0"/>
            </a:schemeClr>
          </a:effectRef>
          <a:fontRef idx="minor">
            <a:schemeClr val="lt1"/>
          </a:fontRef>
        </p:style>
        <p:txBody>
          <a:bodyPr spcFirstLastPara="0" vert="horz" wrap="square" lIns="248826" tIns="248826" rIns="248826" bIns="248826" numCol="1" spcCol="1270" anchor="ctr" anchorCtr="0">
            <a:noAutofit/>
          </a:bodyPr>
          <a:lstStyle/>
          <a:p>
            <a:pPr marL="0" lvl="0" indent="0" algn="l" defTabSz="1733550">
              <a:lnSpc>
                <a:spcPct val="90000"/>
              </a:lnSpc>
              <a:spcBef>
                <a:spcPct val="0"/>
              </a:spcBef>
              <a:spcAft>
                <a:spcPct val="35000"/>
              </a:spcAft>
              <a:buNone/>
            </a:pPr>
            <a:r>
              <a:rPr lang="vi-VN" sz="3900" b="1" i="0" kern="1200" dirty="0">
                <a:solidFill>
                  <a:schemeClr val="bg1"/>
                </a:solidFill>
              </a:rPr>
              <a:t>Xem lịch sử thay đổi chi tiết để kiểm tra những thay đổi đã được thực hiện trong quá trình phát triển ứng dụng</a:t>
            </a:r>
            <a:endParaRPr lang="en-US" sz="3900" b="1" kern="1200" dirty="0">
              <a:solidFill>
                <a:schemeClr val="bg1"/>
              </a:solidFill>
            </a:endParaRPr>
          </a:p>
        </p:txBody>
      </p:sp>
    </p:spTree>
    <p:extLst>
      <p:ext uri="{BB962C8B-B14F-4D97-AF65-F5344CB8AC3E}">
        <p14:creationId xmlns:p14="http://schemas.microsoft.com/office/powerpoint/2010/main" val="268206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p:cTn id="20" dur="500" fill="hold"/>
                                        <p:tgtEl>
                                          <p:spTgt spid="7"/>
                                        </p:tgtEl>
                                        <p:attrNameLst>
                                          <p:attrName>ppt_x</p:attrName>
                                        </p:attrNameLst>
                                      </p:cBhvr>
                                      <p:tavLst>
                                        <p:tav tm="0">
                                          <p:val>
                                            <p:strVal val="#ppt_x"/>
                                          </p:val>
                                        </p:tav>
                                        <p:tav tm="100000">
                                          <p:val>
                                            <p:strVal val="#ppt_x"/>
                                          </p:val>
                                        </p:tav>
                                      </p:tavLst>
                                    </p:anim>
                                    <p:anim calcmode="lin" valueType="num">
                                      <p:cBhvr>
                                        <p:cTn id="21"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0" y="228600"/>
            <a:ext cx="8799006" cy="859055"/>
          </a:xfrm>
        </p:spPr>
        <p:txBody>
          <a:bodyPr>
            <a:normAutofit/>
          </a:bodyPr>
          <a:lstStyle/>
          <a:p>
            <a:r>
              <a:rPr lang="en-US" dirty="0" err="1"/>
              <a:t>Lợi</a:t>
            </a:r>
            <a:r>
              <a:rPr lang="en-US" dirty="0"/>
              <a:t> </a:t>
            </a:r>
            <a:r>
              <a:rPr lang="en-US" dirty="0" err="1"/>
              <a:t>ích</a:t>
            </a:r>
            <a:r>
              <a:rPr lang="en-US" dirty="0"/>
              <a:t> </a:t>
            </a:r>
            <a:r>
              <a:rPr lang="en-US" dirty="0" err="1"/>
              <a:t>khi</a:t>
            </a:r>
            <a:r>
              <a:rPr lang="en-US" dirty="0"/>
              <a:t> </a:t>
            </a:r>
            <a:r>
              <a:rPr lang="en-US" dirty="0" err="1"/>
              <a:t>dùng</a:t>
            </a:r>
            <a:r>
              <a:rPr lang="en-US" dirty="0"/>
              <a:t> AWS Cloud9</a:t>
            </a:r>
          </a:p>
        </p:txBody>
      </p:sp>
      <p:sp>
        <p:nvSpPr>
          <p:cNvPr id="9" name="Hình chữ nhật: Góc Tròn 8">
            <a:hlinkClick r:id="rId2" action="ppaction://hlinksldjump"/>
            <a:extLst>
              <a:ext uri="{FF2B5EF4-FFF2-40B4-BE49-F238E27FC236}">
                <a16:creationId xmlns:a16="http://schemas.microsoft.com/office/drawing/2014/main" id="{1FD030D6-5181-8F79-A1F8-E4447DF2AFD3}"/>
              </a:ext>
            </a:extLst>
          </p:cNvPr>
          <p:cNvSpPr>
            <a:spLocks/>
          </p:cNvSpPr>
          <p:nvPr/>
        </p:nvSpPr>
        <p:spPr>
          <a:xfrm>
            <a:off x="984921" y="2046231"/>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Tích</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hợp</a:t>
            </a:r>
            <a:r>
              <a:rPr kumimoji="0" lang="en-US" sz="5400" b="1" i="0" u="none" strike="noStrike" kern="1200" cap="none" spc="0" normalizeH="0" baseline="0" noProof="0" dirty="0">
                <a:ln>
                  <a:noFill/>
                </a:ln>
                <a:solidFill>
                  <a:prstClr val="black"/>
                </a:solidFill>
                <a:effectLst/>
                <a:uLnTx/>
                <a:uFillTx/>
                <a:latin typeface="Söhne"/>
                <a:ea typeface="+mn-ea"/>
                <a:cs typeface="+mn-cs"/>
              </a:rPr>
              <a:t> Git</a:t>
            </a:r>
          </a:p>
        </p:txBody>
      </p:sp>
      <p:sp>
        <p:nvSpPr>
          <p:cNvPr id="10" name="Hình chữ nhật: Góc Tròn 9">
            <a:hlinkClick r:id="rId3" action="ppaction://hlinksldjump"/>
            <a:extLst>
              <a:ext uri="{FF2B5EF4-FFF2-40B4-BE49-F238E27FC236}">
                <a16:creationId xmlns:a16="http://schemas.microsoft.com/office/drawing/2014/main" id="{5A13DD74-1237-43C9-0214-BA74E1A3EEDA}"/>
              </a:ext>
            </a:extLst>
          </p:cNvPr>
          <p:cNvSpPr/>
          <p:nvPr/>
        </p:nvSpPr>
        <p:spPr>
          <a:xfrm>
            <a:off x="6548955" y="2046231"/>
            <a:ext cx="4500102" cy="1880637"/>
          </a:xfrm>
          <a:prstGeom prst="roundRect">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5400" b="1" i="0" u="none" strike="noStrike" kern="1200" cap="none" spc="0" normalizeH="0" baseline="0" noProof="0" dirty="0">
                <a:ln>
                  <a:noFill/>
                </a:ln>
                <a:solidFill>
                  <a:prstClr val="black"/>
                </a:solidFill>
                <a:effectLst/>
                <a:uLnTx/>
                <a:uFillTx/>
                <a:latin typeface="Söhne"/>
                <a:ea typeface="+mn-ea"/>
                <a:cs typeface="+mn-cs"/>
              </a:rPr>
              <a:t>Truy cập từ xa</a:t>
            </a:r>
          </a:p>
        </p:txBody>
      </p:sp>
      <p:sp>
        <p:nvSpPr>
          <p:cNvPr id="11" name="Hình chữ nhật: Góc Tròn 10">
            <a:hlinkClick r:id="rId4" action="ppaction://hlinksldjump"/>
            <a:extLst>
              <a:ext uri="{FF2B5EF4-FFF2-40B4-BE49-F238E27FC236}">
                <a16:creationId xmlns:a16="http://schemas.microsoft.com/office/drawing/2014/main" id="{A7FA45A6-3BF4-7D60-68A1-4505F2E742C7}"/>
              </a:ext>
            </a:extLst>
          </p:cNvPr>
          <p:cNvSpPr/>
          <p:nvPr/>
        </p:nvSpPr>
        <p:spPr>
          <a:xfrm>
            <a:off x="3834899" y="4306312"/>
            <a:ext cx="4500102" cy="1880637"/>
          </a:xfrm>
          <a:prstGeom prst="roundRect">
            <a:avLst/>
          </a:prstGeom>
          <a:solidFill>
            <a:schemeClr val="accent3"/>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Gỡ</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lỗi</a:t>
            </a:r>
            <a:endParaRPr kumimoji="0" lang="en-US" sz="5400" b="1" i="0" u="none" strike="noStrike" kern="1200" cap="none" spc="0" normalizeH="0" baseline="0" noProof="0" dirty="0">
              <a:ln>
                <a:noFill/>
              </a:ln>
              <a:solidFill>
                <a:prstClr val="black"/>
              </a:solidFill>
              <a:effectLst/>
              <a:uLnTx/>
              <a:uFillTx/>
              <a:latin typeface="Söhne"/>
              <a:ea typeface="+mn-ea"/>
              <a:cs typeface="+mn-cs"/>
            </a:endParaRPr>
          </a:p>
        </p:txBody>
      </p:sp>
    </p:spTree>
    <p:extLst>
      <p:ext uri="{BB962C8B-B14F-4D97-AF65-F5344CB8AC3E}">
        <p14:creationId xmlns:p14="http://schemas.microsoft.com/office/powerpoint/2010/main" val="2802838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Hình chữ nhật 38">
            <a:hlinkClick r:id="rId2" action="ppaction://hlinksldjump"/>
            <a:extLst>
              <a:ext uri="{FF2B5EF4-FFF2-40B4-BE49-F238E27FC236}">
                <a16:creationId xmlns:a16="http://schemas.microsoft.com/office/drawing/2014/main" id="{E35F70B5-C175-E965-38BC-BC86F325E5DE}"/>
              </a:ext>
            </a:extLst>
          </p:cNvPr>
          <p:cNvSpPr/>
          <p:nvPr/>
        </p:nvSpPr>
        <p:spPr>
          <a:xfrm>
            <a:off x="0" y="0"/>
            <a:ext cx="4069080" cy="6858000"/>
          </a:xfrm>
          <a:prstGeom prst="rect">
            <a:avLst/>
          </a:prstGeom>
          <a:solidFill>
            <a:srgbClr val="011627"/>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dirty="0">
                <a:solidFill>
                  <a:schemeClr val="bg1"/>
                </a:solidFill>
              </a:rPr>
              <a:t>Linh </a:t>
            </a:r>
            <a:r>
              <a:rPr lang="en-US" sz="4800" b="1" dirty="0" err="1">
                <a:solidFill>
                  <a:schemeClr val="bg1"/>
                </a:solidFill>
              </a:rPr>
              <a:t>hoạt</a:t>
            </a:r>
            <a:r>
              <a:rPr lang="en-US" sz="4800" b="1" dirty="0">
                <a:solidFill>
                  <a:schemeClr val="bg1"/>
                </a:solidFill>
              </a:rPr>
              <a:t> </a:t>
            </a:r>
            <a:r>
              <a:rPr lang="en-US" sz="4800" b="1" dirty="0" err="1">
                <a:solidFill>
                  <a:schemeClr val="bg1"/>
                </a:solidFill>
              </a:rPr>
              <a:t>và</a:t>
            </a:r>
            <a:r>
              <a:rPr lang="en-US" sz="4800" b="1" dirty="0">
                <a:solidFill>
                  <a:schemeClr val="bg1"/>
                </a:solidFill>
              </a:rPr>
              <a:t> </a:t>
            </a:r>
            <a:r>
              <a:rPr lang="en-US" sz="4800" b="1" dirty="0" err="1">
                <a:solidFill>
                  <a:schemeClr val="bg1"/>
                </a:solidFill>
              </a:rPr>
              <a:t>tiện</a:t>
            </a:r>
            <a:r>
              <a:rPr lang="en-US" sz="4800" b="1" dirty="0">
                <a:solidFill>
                  <a:schemeClr val="bg1"/>
                </a:solidFill>
              </a:rPr>
              <a:t> </a:t>
            </a:r>
            <a:r>
              <a:rPr lang="en-US" sz="4800" b="1" dirty="0" err="1">
                <a:solidFill>
                  <a:schemeClr val="bg1"/>
                </a:solidFill>
              </a:rPr>
              <a:t>lợi</a:t>
            </a:r>
            <a:endParaRPr lang="en-US" sz="4800" b="1" dirty="0">
              <a:solidFill>
                <a:schemeClr val="bg1"/>
              </a:solidFill>
            </a:endParaRPr>
          </a:p>
          <a:p>
            <a:pPr defTabSz="2486025">
              <a:lnSpc>
                <a:spcPct val="90000"/>
              </a:lnSpc>
              <a:spcBef>
                <a:spcPct val="0"/>
              </a:spcBef>
              <a:spcAft>
                <a:spcPct val="35000"/>
              </a:spcAft>
            </a:pPr>
            <a:r>
              <a:rPr lang="vi-VN" sz="4000" b="1" i="0" dirty="0">
                <a:solidFill>
                  <a:srgbClr val="011627"/>
                </a:solidFill>
                <a:effectLst/>
                <a:latin typeface="Söhne"/>
              </a:rPr>
              <a:t>Truy cập vào môi trường phát triển từ bất kỳ đâu, bất kỳ khi nào, chỉ cần có trình duyệt </a:t>
            </a:r>
            <a:r>
              <a:rPr lang="vi-VN" sz="4000" b="1" i="0" dirty="0" err="1">
                <a:solidFill>
                  <a:srgbClr val="011627"/>
                </a:solidFill>
                <a:effectLst/>
                <a:latin typeface="Söhne"/>
              </a:rPr>
              <a:t>web</a:t>
            </a:r>
            <a:r>
              <a:rPr lang="vi-VN" sz="4000" b="1" i="0" dirty="0">
                <a:solidFill>
                  <a:srgbClr val="011627"/>
                </a:solidFill>
                <a:effectLst/>
                <a:latin typeface="Söhne"/>
              </a:rPr>
              <a:t> và kết nối </a:t>
            </a:r>
            <a:r>
              <a:rPr lang="vi-VN" sz="4000" b="1" i="0" dirty="0" err="1">
                <a:solidFill>
                  <a:srgbClr val="011627"/>
                </a:solidFill>
                <a:effectLst/>
                <a:latin typeface="Söhne"/>
              </a:rPr>
              <a:t>internet</a:t>
            </a:r>
            <a:r>
              <a:rPr lang="vi-VN" sz="4000" b="1" i="0" dirty="0">
                <a:solidFill>
                  <a:srgbClr val="011627"/>
                </a:solidFill>
                <a:effectLst/>
                <a:latin typeface="Söhne"/>
              </a:rPr>
              <a:t>.</a:t>
            </a:r>
            <a:endParaRPr lang="en-US" sz="4000" b="1" kern="1200" dirty="0">
              <a:solidFill>
                <a:srgbClr val="011627"/>
              </a:solidFill>
            </a:endParaRPr>
          </a:p>
        </p:txBody>
      </p:sp>
      <p:sp>
        <p:nvSpPr>
          <p:cNvPr id="2" name="Hình chữ nhật 1">
            <a:hlinkClick r:id="" action="ppaction://noaction"/>
            <a:extLst>
              <a:ext uri="{FF2B5EF4-FFF2-40B4-BE49-F238E27FC236}">
                <a16:creationId xmlns:a16="http://schemas.microsoft.com/office/drawing/2014/main" id="{EEFEB4F3-DAFA-E15B-7D45-3D1C318482EC}"/>
              </a:ext>
            </a:extLst>
          </p:cNvPr>
          <p:cNvSpPr/>
          <p:nvPr/>
        </p:nvSpPr>
        <p:spPr>
          <a:xfrm>
            <a:off x="4061460" y="0"/>
            <a:ext cx="4069080" cy="6858000"/>
          </a:xfrm>
          <a:prstGeom prst="rect">
            <a:avLst/>
          </a:prstGeom>
          <a:solidFill>
            <a:srgbClr val="F71735"/>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bg1"/>
                </a:solidFill>
                <a:effectLst/>
              </a:rPr>
              <a:t>Cộng</a:t>
            </a:r>
            <a:r>
              <a:rPr lang="en-US" sz="4800" b="1" i="0" dirty="0">
                <a:solidFill>
                  <a:schemeClr val="bg1"/>
                </a:solidFill>
                <a:effectLst/>
              </a:rPr>
              <a:t> </a:t>
            </a:r>
            <a:r>
              <a:rPr lang="en-US" sz="4800" b="1" i="0" dirty="0" err="1">
                <a:solidFill>
                  <a:schemeClr val="bg1"/>
                </a:solidFill>
                <a:effectLst/>
              </a:rPr>
              <a:t>tác</a:t>
            </a:r>
            <a:r>
              <a:rPr lang="en-US" sz="4800" b="1" i="0" dirty="0">
                <a:solidFill>
                  <a:schemeClr val="bg1"/>
                </a:solidFill>
                <a:effectLst/>
              </a:rPr>
              <a:t> </a:t>
            </a:r>
            <a:r>
              <a:rPr lang="en-US" sz="4800" b="1" i="0" dirty="0" err="1">
                <a:solidFill>
                  <a:schemeClr val="bg1"/>
                </a:solidFill>
                <a:effectLst/>
              </a:rPr>
              <a:t>dễ</a:t>
            </a:r>
            <a:r>
              <a:rPr lang="en-US" sz="4800" b="1" i="0" dirty="0">
                <a:solidFill>
                  <a:schemeClr val="bg1"/>
                </a:solidFill>
                <a:effectLst/>
              </a:rPr>
              <a:t> </a:t>
            </a:r>
            <a:r>
              <a:rPr lang="en-US" sz="4800" b="1" i="0" dirty="0" err="1">
                <a:solidFill>
                  <a:schemeClr val="bg1"/>
                </a:solidFill>
                <a:effectLst/>
              </a:rPr>
              <a:t>dàng</a:t>
            </a:r>
            <a:endParaRPr lang="en-US" sz="4800" b="1" i="0" dirty="0">
              <a:solidFill>
                <a:schemeClr val="bg1"/>
              </a:solidFill>
              <a:effectLst/>
            </a:endParaRPr>
          </a:p>
          <a:p>
            <a:pPr defTabSz="2486025">
              <a:lnSpc>
                <a:spcPct val="90000"/>
              </a:lnSpc>
              <a:spcBef>
                <a:spcPct val="0"/>
              </a:spcBef>
              <a:spcAft>
                <a:spcPct val="35000"/>
              </a:spcAft>
            </a:pPr>
            <a:r>
              <a:rPr lang="vi-VN" sz="4000" b="1" i="0" dirty="0">
                <a:solidFill>
                  <a:srgbClr val="F71735"/>
                </a:solidFill>
                <a:effectLst/>
                <a:latin typeface="Söhne"/>
              </a:rPr>
              <a:t>Cho phép đội ngũ phát triển làm việc cùng nhau trên cùng một dự án mà không cần cài đặt môi trường phát triển trên mỗi máy tính.</a:t>
            </a:r>
            <a:endParaRPr lang="en-US" sz="4000" b="1" i="0" dirty="0">
              <a:solidFill>
                <a:srgbClr val="F71735"/>
              </a:solidFill>
              <a:effectLst/>
            </a:endParaRPr>
          </a:p>
        </p:txBody>
      </p:sp>
      <p:sp>
        <p:nvSpPr>
          <p:cNvPr id="3" name="Hình chữ nhật 2">
            <a:hlinkClick r:id="" action="ppaction://noaction"/>
            <a:extLst>
              <a:ext uri="{FF2B5EF4-FFF2-40B4-BE49-F238E27FC236}">
                <a16:creationId xmlns:a16="http://schemas.microsoft.com/office/drawing/2014/main" id="{3CB893E4-CB1D-3877-EF53-0F6243D1C2C3}"/>
              </a:ext>
            </a:extLst>
          </p:cNvPr>
          <p:cNvSpPr/>
          <p:nvPr/>
        </p:nvSpPr>
        <p:spPr>
          <a:xfrm>
            <a:off x="8122920" y="0"/>
            <a:ext cx="4069080" cy="6858000"/>
          </a:xfrm>
          <a:prstGeom prst="rect">
            <a:avLst/>
          </a:prstGeom>
          <a:solidFill>
            <a:srgbClr val="41EAD4"/>
          </a:solidFill>
          <a:ln>
            <a:noFill/>
          </a:ln>
        </p:spPr>
        <p:style>
          <a:lnRef idx="2">
            <a:schemeClr val="accent2">
              <a:shade val="50000"/>
            </a:schemeClr>
          </a:lnRef>
          <a:fillRef idx="1">
            <a:schemeClr val="accent2"/>
          </a:fillRef>
          <a:effectRef idx="0">
            <a:schemeClr val="accent2"/>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tx1"/>
                </a:solidFill>
                <a:effectLst/>
              </a:rPr>
              <a:t>Bảo</a:t>
            </a:r>
            <a:r>
              <a:rPr lang="en-US" sz="4800" b="1" i="0" dirty="0">
                <a:solidFill>
                  <a:schemeClr val="tx1"/>
                </a:solidFill>
                <a:effectLst/>
              </a:rPr>
              <a:t> </a:t>
            </a:r>
            <a:r>
              <a:rPr lang="en-US" sz="4800" b="1" i="0" dirty="0" err="1">
                <a:solidFill>
                  <a:schemeClr val="tx1"/>
                </a:solidFill>
                <a:effectLst/>
              </a:rPr>
              <a:t>mật</a:t>
            </a:r>
            <a:r>
              <a:rPr lang="en-US" sz="4800" b="1" i="0" dirty="0">
                <a:solidFill>
                  <a:schemeClr val="tx1"/>
                </a:solidFill>
                <a:effectLst/>
              </a:rPr>
              <a:t> </a:t>
            </a:r>
            <a:r>
              <a:rPr lang="en-US" sz="4800" b="1" i="0" dirty="0" err="1">
                <a:solidFill>
                  <a:schemeClr val="tx1"/>
                </a:solidFill>
                <a:effectLst/>
              </a:rPr>
              <a:t>và</a:t>
            </a:r>
            <a:r>
              <a:rPr lang="en-US" sz="4800" b="1" i="0" dirty="0">
                <a:solidFill>
                  <a:schemeClr val="tx1"/>
                </a:solidFill>
                <a:effectLst/>
              </a:rPr>
              <a:t> tin </a:t>
            </a:r>
            <a:r>
              <a:rPr lang="en-US" sz="4800" b="1" i="0" dirty="0" err="1">
                <a:solidFill>
                  <a:schemeClr val="tx1"/>
                </a:solidFill>
                <a:effectLst/>
              </a:rPr>
              <a:t>cậy</a:t>
            </a:r>
            <a:endParaRPr lang="en-US" sz="4800" b="1" i="0" dirty="0">
              <a:solidFill>
                <a:schemeClr val="tx1"/>
              </a:solidFill>
              <a:effectLst/>
            </a:endParaRPr>
          </a:p>
          <a:p>
            <a:pPr defTabSz="2486025">
              <a:lnSpc>
                <a:spcPct val="90000"/>
              </a:lnSpc>
              <a:spcBef>
                <a:spcPct val="0"/>
              </a:spcBef>
              <a:spcAft>
                <a:spcPct val="35000"/>
              </a:spcAft>
            </a:pPr>
            <a:r>
              <a:rPr lang="vi-VN" sz="4000" b="1" i="0" dirty="0">
                <a:solidFill>
                  <a:srgbClr val="41EAD4"/>
                </a:solidFill>
                <a:effectLst/>
                <a:latin typeface="Söhne"/>
              </a:rPr>
              <a:t>Dữ liệu và mã nguồn được lưu trữ an toàn trong đám mây AWS, giúp đảm bảo tính riêng tư và đồng bộ hóa.</a:t>
            </a:r>
            <a:endParaRPr lang="en-US" sz="4000" b="1" i="0" dirty="0">
              <a:solidFill>
                <a:srgbClr val="41EAD4"/>
              </a:solidFill>
              <a:effectLst/>
            </a:endParaRPr>
          </a:p>
        </p:txBody>
      </p:sp>
    </p:spTree>
    <p:extLst>
      <p:ext uri="{BB962C8B-B14F-4D97-AF65-F5344CB8AC3E}">
        <p14:creationId xmlns:p14="http://schemas.microsoft.com/office/powerpoint/2010/main" val="10368746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Hình chữ nhật 38">
            <a:hlinkClick r:id="rId2" action="ppaction://hlinksldjump"/>
            <a:extLst>
              <a:ext uri="{FF2B5EF4-FFF2-40B4-BE49-F238E27FC236}">
                <a16:creationId xmlns:a16="http://schemas.microsoft.com/office/drawing/2014/main" id="{E35F70B5-C175-E965-38BC-BC86F325E5DE}"/>
              </a:ext>
            </a:extLst>
          </p:cNvPr>
          <p:cNvSpPr/>
          <p:nvPr/>
        </p:nvSpPr>
        <p:spPr>
          <a:xfrm>
            <a:off x="0" y="0"/>
            <a:ext cx="7437120" cy="6858000"/>
          </a:xfrm>
          <a:prstGeom prst="rect">
            <a:avLst/>
          </a:prstGeom>
          <a:solidFill>
            <a:srgbClr val="011627"/>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dirty="0">
                <a:solidFill>
                  <a:schemeClr val="bg1"/>
                </a:solidFill>
              </a:rPr>
              <a:t>Linh </a:t>
            </a:r>
            <a:r>
              <a:rPr lang="en-US" sz="4800" b="1" dirty="0" err="1">
                <a:solidFill>
                  <a:schemeClr val="bg1"/>
                </a:solidFill>
              </a:rPr>
              <a:t>hoạt</a:t>
            </a:r>
            <a:r>
              <a:rPr lang="en-US" sz="4800" b="1" dirty="0">
                <a:solidFill>
                  <a:schemeClr val="bg1"/>
                </a:solidFill>
              </a:rPr>
              <a:t> </a:t>
            </a:r>
            <a:r>
              <a:rPr lang="en-US" sz="4800" b="1" dirty="0" err="1">
                <a:solidFill>
                  <a:schemeClr val="bg1"/>
                </a:solidFill>
              </a:rPr>
              <a:t>và</a:t>
            </a:r>
            <a:r>
              <a:rPr lang="en-US" sz="4800" b="1" dirty="0">
                <a:solidFill>
                  <a:schemeClr val="bg1"/>
                </a:solidFill>
              </a:rPr>
              <a:t> </a:t>
            </a:r>
            <a:r>
              <a:rPr lang="en-US" sz="4800" b="1" dirty="0" err="1">
                <a:solidFill>
                  <a:schemeClr val="bg1"/>
                </a:solidFill>
              </a:rPr>
              <a:t>tiện</a:t>
            </a:r>
            <a:r>
              <a:rPr lang="en-US" sz="4800" b="1" dirty="0">
                <a:solidFill>
                  <a:schemeClr val="bg1"/>
                </a:solidFill>
              </a:rPr>
              <a:t> </a:t>
            </a:r>
            <a:r>
              <a:rPr lang="en-US" sz="4800" b="1" dirty="0" err="1">
                <a:solidFill>
                  <a:schemeClr val="bg1"/>
                </a:solidFill>
              </a:rPr>
              <a:t>lợi</a:t>
            </a:r>
            <a:endParaRPr lang="en-US" sz="4800" b="1" dirty="0">
              <a:solidFill>
                <a:schemeClr val="bg1"/>
              </a:solidFill>
            </a:endParaRPr>
          </a:p>
          <a:p>
            <a:pPr defTabSz="2486025">
              <a:lnSpc>
                <a:spcPct val="90000"/>
              </a:lnSpc>
              <a:spcBef>
                <a:spcPct val="0"/>
              </a:spcBef>
              <a:spcAft>
                <a:spcPct val="35000"/>
              </a:spcAft>
            </a:pPr>
            <a:r>
              <a:rPr lang="vi-VN" sz="4000" b="1" i="0" dirty="0">
                <a:solidFill>
                  <a:schemeClr val="bg1"/>
                </a:solidFill>
                <a:effectLst/>
                <a:latin typeface="Söhne"/>
              </a:rPr>
              <a:t>Truy cập vào môi trường phát triển từ bất kỳ đâu, bất kỳ khi nào, chỉ cần có trình duyệt </a:t>
            </a:r>
            <a:r>
              <a:rPr lang="vi-VN" sz="4000" b="1" i="0" dirty="0" err="1">
                <a:solidFill>
                  <a:schemeClr val="bg1"/>
                </a:solidFill>
                <a:effectLst/>
                <a:latin typeface="Söhne"/>
              </a:rPr>
              <a:t>web</a:t>
            </a:r>
            <a:r>
              <a:rPr lang="vi-VN" sz="4000" b="1" i="0" dirty="0">
                <a:solidFill>
                  <a:schemeClr val="bg1"/>
                </a:solidFill>
                <a:effectLst/>
                <a:latin typeface="Söhne"/>
              </a:rPr>
              <a:t> và kết nối </a:t>
            </a:r>
            <a:r>
              <a:rPr lang="vi-VN" sz="4000" b="1" i="0" dirty="0" err="1">
                <a:solidFill>
                  <a:schemeClr val="bg1"/>
                </a:solidFill>
                <a:effectLst/>
                <a:latin typeface="Söhne"/>
              </a:rPr>
              <a:t>internet</a:t>
            </a:r>
            <a:r>
              <a:rPr lang="vi-VN" sz="4000" b="1" i="0" dirty="0">
                <a:solidFill>
                  <a:schemeClr val="bg1"/>
                </a:solidFill>
                <a:effectLst/>
                <a:latin typeface="Söhne"/>
              </a:rPr>
              <a:t>.</a:t>
            </a:r>
            <a:endParaRPr lang="en-US" sz="4000" b="1" kern="1200" dirty="0">
              <a:solidFill>
                <a:schemeClr val="bg1"/>
              </a:solidFill>
            </a:endParaRPr>
          </a:p>
        </p:txBody>
      </p:sp>
      <p:sp>
        <p:nvSpPr>
          <p:cNvPr id="2" name="Hình chữ nhật 1">
            <a:hlinkClick r:id="" action="ppaction://noaction"/>
            <a:extLst>
              <a:ext uri="{FF2B5EF4-FFF2-40B4-BE49-F238E27FC236}">
                <a16:creationId xmlns:a16="http://schemas.microsoft.com/office/drawing/2014/main" id="{E8CFAFD5-F8F2-C167-82E4-6FA2D868CD46}"/>
              </a:ext>
            </a:extLst>
          </p:cNvPr>
          <p:cNvSpPr/>
          <p:nvPr/>
        </p:nvSpPr>
        <p:spPr>
          <a:xfrm>
            <a:off x="7437120" y="0"/>
            <a:ext cx="2377440" cy="6858000"/>
          </a:xfrm>
          <a:prstGeom prst="rect">
            <a:avLst/>
          </a:prstGeom>
          <a:solidFill>
            <a:srgbClr val="F71735"/>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bg1"/>
                </a:solidFill>
                <a:effectLst/>
              </a:rPr>
              <a:t>Cộng</a:t>
            </a:r>
            <a:r>
              <a:rPr lang="en-US" sz="4800" b="1" i="0" dirty="0">
                <a:solidFill>
                  <a:schemeClr val="bg1"/>
                </a:solidFill>
                <a:effectLst/>
              </a:rPr>
              <a:t> </a:t>
            </a:r>
            <a:r>
              <a:rPr lang="en-US" sz="4800" b="1" i="0" dirty="0" err="1">
                <a:solidFill>
                  <a:schemeClr val="bg1"/>
                </a:solidFill>
                <a:effectLst/>
              </a:rPr>
              <a:t>tác</a:t>
            </a:r>
            <a:r>
              <a:rPr lang="en-US" sz="4800" b="1" i="0" dirty="0">
                <a:solidFill>
                  <a:schemeClr val="bg1"/>
                </a:solidFill>
                <a:effectLst/>
              </a:rPr>
              <a:t> </a:t>
            </a:r>
            <a:r>
              <a:rPr lang="en-US" sz="4800" b="1" i="0" dirty="0" err="1">
                <a:solidFill>
                  <a:schemeClr val="bg1"/>
                </a:solidFill>
                <a:effectLst/>
              </a:rPr>
              <a:t>dễ</a:t>
            </a:r>
            <a:r>
              <a:rPr lang="en-US" sz="4800" b="1" i="0" dirty="0">
                <a:solidFill>
                  <a:schemeClr val="bg1"/>
                </a:solidFill>
                <a:effectLst/>
              </a:rPr>
              <a:t> </a:t>
            </a:r>
            <a:r>
              <a:rPr lang="en-US" sz="4800" b="1" i="0" dirty="0" err="1">
                <a:solidFill>
                  <a:schemeClr val="bg1"/>
                </a:solidFill>
                <a:effectLst/>
              </a:rPr>
              <a:t>dàng</a:t>
            </a:r>
            <a:endParaRPr lang="en-US" sz="4800" b="1" i="0" dirty="0">
              <a:solidFill>
                <a:schemeClr val="bg1"/>
              </a:solidFill>
              <a:effectLst/>
            </a:endParaRPr>
          </a:p>
          <a:p>
            <a:pPr defTabSz="2486025">
              <a:lnSpc>
                <a:spcPct val="90000"/>
              </a:lnSpc>
              <a:spcBef>
                <a:spcPct val="0"/>
              </a:spcBef>
              <a:spcAft>
                <a:spcPct val="35000"/>
              </a:spcAft>
            </a:pPr>
            <a:r>
              <a:rPr lang="vi-VN" sz="4000" b="1" i="0" dirty="0">
                <a:solidFill>
                  <a:srgbClr val="F71735"/>
                </a:solidFill>
                <a:effectLst/>
                <a:latin typeface="Söhne"/>
              </a:rPr>
              <a:t>Cho phép đội ngũ phát triển làm việc cùng nhau trên cùng một dự án mà không cần cài đặt môi trường phát triển trên mỗi máy tính.</a:t>
            </a:r>
            <a:endParaRPr lang="en-US" sz="4000" b="1" i="0" dirty="0">
              <a:solidFill>
                <a:srgbClr val="F71735"/>
              </a:solidFill>
              <a:effectLst/>
            </a:endParaRPr>
          </a:p>
        </p:txBody>
      </p:sp>
      <p:sp>
        <p:nvSpPr>
          <p:cNvPr id="3" name="Hình chữ nhật 2">
            <a:hlinkClick r:id="" action="ppaction://noaction"/>
            <a:extLst>
              <a:ext uri="{FF2B5EF4-FFF2-40B4-BE49-F238E27FC236}">
                <a16:creationId xmlns:a16="http://schemas.microsoft.com/office/drawing/2014/main" id="{3933C8E4-0AB0-EDE5-919C-D0D7DE48EF73}"/>
              </a:ext>
            </a:extLst>
          </p:cNvPr>
          <p:cNvSpPr/>
          <p:nvPr/>
        </p:nvSpPr>
        <p:spPr>
          <a:xfrm>
            <a:off x="9814560" y="0"/>
            <a:ext cx="2377440" cy="6858000"/>
          </a:xfrm>
          <a:prstGeom prst="rect">
            <a:avLst/>
          </a:prstGeom>
          <a:solidFill>
            <a:srgbClr val="41EAD4"/>
          </a:solidFill>
          <a:ln>
            <a:noFill/>
          </a:ln>
        </p:spPr>
        <p:style>
          <a:lnRef idx="2">
            <a:schemeClr val="accent2">
              <a:shade val="50000"/>
            </a:schemeClr>
          </a:lnRef>
          <a:fillRef idx="1">
            <a:schemeClr val="accent2"/>
          </a:fillRef>
          <a:effectRef idx="0">
            <a:schemeClr val="accent2"/>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tx1"/>
                </a:solidFill>
                <a:effectLst/>
              </a:rPr>
              <a:t>Bảo</a:t>
            </a:r>
            <a:r>
              <a:rPr lang="en-US" sz="4800" b="1" i="0" dirty="0">
                <a:solidFill>
                  <a:schemeClr val="tx1"/>
                </a:solidFill>
                <a:effectLst/>
              </a:rPr>
              <a:t> </a:t>
            </a:r>
            <a:r>
              <a:rPr lang="en-US" sz="4800" b="1" i="0" dirty="0" err="1">
                <a:solidFill>
                  <a:schemeClr val="tx1"/>
                </a:solidFill>
                <a:effectLst/>
              </a:rPr>
              <a:t>mật</a:t>
            </a:r>
            <a:r>
              <a:rPr lang="en-US" sz="4800" b="1" i="0" dirty="0">
                <a:solidFill>
                  <a:schemeClr val="tx1"/>
                </a:solidFill>
                <a:effectLst/>
              </a:rPr>
              <a:t> </a:t>
            </a:r>
            <a:r>
              <a:rPr lang="en-US" sz="4800" b="1" i="0" dirty="0" err="1">
                <a:solidFill>
                  <a:schemeClr val="tx1"/>
                </a:solidFill>
                <a:effectLst/>
              </a:rPr>
              <a:t>và</a:t>
            </a:r>
            <a:r>
              <a:rPr lang="en-US" sz="4800" b="1" i="0" dirty="0">
                <a:solidFill>
                  <a:schemeClr val="tx1"/>
                </a:solidFill>
                <a:effectLst/>
              </a:rPr>
              <a:t> tin </a:t>
            </a:r>
            <a:r>
              <a:rPr lang="en-US" sz="4800" b="1" i="0" dirty="0" err="1">
                <a:solidFill>
                  <a:schemeClr val="tx1"/>
                </a:solidFill>
                <a:effectLst/>
              </a:rPr>
              <a:t>cậy</a:t>
            </a:r>
            <a:endParaRPr lang="en-US" sz="4800" b="1" i="0" dirty="0">
              <a:solidFill>
                <a:schemeClr val="tx1"/>
              </a:solidFill>
              <a:effectLst/>
            </a:endParaRPr>
          </a:p>
          <a:p>
            <a:pPr defTabSz="2486025">
              <a:lnSpc>
                <a:spcPct val="90000"/>
              </a:lnSpc>
              <a:spcBef>
                <a:spcPct val="0"/>
              </a:spcBef>
              <a:spcAft>
                <a:spcPct val="35000"/>
              </a:spcAft>
            </a:pPr>
            <a:r>
              <a:rPr lang="vi-VN" sz="4000" b="1" i="0" dirty="0">
                <a:solidFill>
                  <a:srgbClr val="41EAD4"/>
                </a:solidFill>
                <a:effectLst/>
                <a:latin typeface="Söhne"/>
              </a:rPr>
              <a:t>Dữ liệu và mã nguồn được lưu trữ an toàn trong đám mây AWS, giúp đảm bảo tính riêng tư và đồng bộ hóa.</a:t>
            </a:r>
            <a:endParaRPr lang="en-US" sz="4000" b="1" i="0" dirty="0">
              <a:solidFill>
                <a:srgbClr val="41EAD4"/>
              </a:solidFill>
              <a:effectLst/>
            </a:endParaRPr>
          </a:p>
        </p:txBody>
      </p:sp>
    </p:spTree>
    <p:extLst>
      <p:ext uri="{BB962C8B-B14F-4D97-AF65-F5344CB8AC3E}">
        <p14:creationId xmlns:p14="http://schemas.microsoft.com/office/powerpoint/2010/main" val="3804064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Hình chữ nhật 39">
            <a:hlinkClick r:id="" action="ppaction://noaction"/>
            <a:extLst>
              <a:ext uri="{FF2B5EF4-FFF2-40B4-BE49-F238E27FC236}">
                <a16:creationId xmlns:a16="http://schemas.microsoft.com/office/drawing/2014/main" id="{C3EAA9EC-7C6A-36E8-6DB4-415EB3A85229}"/>
              </a:ext>
            </a:extLst>
          </p:cNvPr>
          <p:cNvSpPr/>
          <p:nvPr/>
        </p:nvSpPr>
        <p:spPr>
          <a:xfrm>
            <a:off x="2377440" y="0"/>
            <a:ext cx="7437120" cy="6858000"/>
          </a:xfrm>
          <a:prstGeom prst="rect">
            <a:avLst/>
          </a:prstGeom>
          <a:solidFill>
            <a:srgbClr val="F71735"/>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bg1"/>
                </a:solidFill>
                <a:effectLst/>
              </a:rPr>
              <a:t>Cộng</a:t>
            </a:r>
            <a:r>
              <a:rPr lang="en-US" sz="4800" b="1" i="0" dirty="0">
                <a:solidFill>
                  <a:schemeClr val="bg1"/>
                </a:solidFill>
                <a:effectLst/>
              </a:rPr>
              <a:t> </a:t>
            </a:r>
            <a:r>
              <a:rPr lang="en-US" sz="4800" b="1" i="0" dirty="0" err="1">
                <a:solidFill>
                  <a:schemeClr val="bg1"/>
                </a:solidFill>
                <a:effectLst/>
              </a:rPr>
              <a:t>tác</a:t>
            </a:r>
            <a:r>
              <a:rPr lang="en-US" sz="4800" b="1" i="0" dirty="0">
                <a:solidFill>
                  <a:schemeClr val="bg1"/>
                </a:solidFill>
                <a:effectLst/>
              </a:rPr>
              <a:t> </a:t>
            </a:r>
            <a:r>
              <a:rPr lang="en-US" sz="4800" b="1" i="0" dirty="0" err="1">
                <a:solidFill>
                  <a:schemeClr val="bg1"/>
                </a:solidFill>
                <a:effectLst/>
              </a:rPr>
              <a:t>dễ</a:t>
            </a:r>
            <a:r>
              <a:rPr lang="en-US" sz="4800" b="1" i="0" dirty="0">
                <a:solidFill>
                  <a:schemeClr val="bg1"/>
                </a:solidFill>
                <a:effectLst/>
              </a:rPr>
              <a:t> </a:t>
            </a:r>
            <a:r>
              <a:rPr lang="en-US" sz="4800" b="1" i="0" dirty="0" err="1">
                <a:solidFill>
                  <a:schemeClr val="bg1"/>
                </a:solidFill>
                <a:effectLst/>
              </a:rPr>
              <a:t>dàng</a:t>
            </a:r>
            <a:endParaRPr lang="en-US" sz="4800" b="1" i="0" dirty="0">
              <a:solidFill>
                <a:schemeClr val="bg1"/>
              </a:solidFill>
              <a:effectLst/>
            </a:endParaRPr>
          </a:p>
          <a:p>
            <a:pPr defTabSz="2486025">
              <a:lnSpc>
                <a:spcPct val="90000"/>
              </a:lnSpc>
              <a:spcBef>
                <a:spcPct val="0"/>
              </a:spcBef>
              <a:spcAft>
                <a:spcPct val="35000"/>
              </a:spcAft>
            </a:pPr>
            <a:r>
              <a:rPr lang="vi-VN" sz="4000" b="1" i="0" dirty="0">
                <a:solidFill>
                  <a:schemeClr val="bg1"/>
                </a:solidFill>
                <a:effectLst/>
                <a:latin typeface="Söhne"/>
              </a:rPr>
              <a:t>Cho phép đội ngũ phát triển làm việc cùng nhau trên cùng một dự án mà không cần cài đặt môi trường phát triển trên mỗi máy tính.</a:t>
            </a:r>
            <a:endParaRPr lang="en-US" sz="4000" b="1" i="0" dirty="0">
              <a:solidFill>
                <a:schemeClr val="bg1"/>
              </a:solidFill>
              <a:effectLst/>
            </a:endParaRPr>
          </a:p>
        </p:txBody>
      </p:sp>
      <p:sp>
        <p:nvSpPr>
          <p:cNvPr id="4" name="Hình chữ nhật 3">
            <a:hlinkClick r:id="rId2" action="ppaction://hlinksldjump"/>
            <a:extLst>
              <a:ext uri="{FF2B5EF4-FFF2-40B4-BE49-F238E27FC236}">
                <a16:creationId xmlns:a16="http://schemas.microsoft.com/office/drawing/2014/main" id="{00C97CCC-A557-96E5-3236-349E2F7FE474}"/>
              </a:ext>
            </a:extLst>
          </p:cNvPr>
          <p:cNvSpPr/>
          <p:nvPr/>
        </p:nvSpPr>
        <p:spPr>
          <a:xfrm>
            <a:off x="0" y="0"/>
            <a:ext cx="2377440" cy="6858000"/>
          </a:xfrm>
          <a:prstGeom prst="rect">
            <a:avLst/>
          </a:prstGeom>
          <a:solidFill>
            <a:srgbClr val="011627"/>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dirty="0">
                <a:solidFill>
                  <a:schemeClr val="bg1"/>
                </a:solidFill>
              </a:rPr>
              <a:t>Linh </a:t>
            </a:r>
            <a:r>
              <a:rPr lang="en-US" sz="4800" b="1" dirty="0" err="1">
                <a:solidFill>
                  <a:schemeClr val="bg1"/>
                </a:solidFill>
              </a:rPr>
              <a:t>hoạt</a:t>
            </a:r>
            <a:r>
              <a:rPr lang="en-US" sz="4800" b="1" dirty="0">
                <a:solidFill>
                  <a:schemeClr val="bg1"/>
                </a:solidFill>
              </a:rPr>
              <a:t> </a:t>
            </a:r>
            <a:r>
              <a:rPr lang="en-US" sz="4800" b="1" dirty="0" err="1">
                <a:solidFill>
                  <a:schemeClr val="bg1"/>
                </a:solidFill>
              </a:rPr>
              <a:t>và</a:t>
            </a:r>
            <a:r>
              <a:rPr lang="en-US" sz="4800" b="1" dirty="0">
                <a:solidFill>
                  <a:schemeClr val="bg1"/>
                </a:solidFill>
              </a:rPr>
              <a:t> </a:t>
            </a:r>
            <a:r>
              <a:rPr lang="en-US" sz="4800" b="1" dirty="0" err="1">
                <a:solidFill>
                  <a:schemeClr val="bg1"/>
                </a:solidFill>
              </a:rPr>
              <a:t>tiện</a:t>
            </a:r>
            <a:r>
              <a:rPr lang="en-US" sz="4800" b="1" dirty="0">
                <a:solidFill>
                  <a:schemeClr val="bg1"/>
                </a:solidFill>
              </a:rPr>
              <a:t> </a:t>
            </a:r>
            <a:r>
              <a:rPr lang="en-US" sz="4800" b="1" dirty="0" err="1">
                <a:solidFill>
                  <a:schemeClr val="bg1"/>
                </a:solidFill>
              </a:rPr>
              <a:t>lợi</a:t>
            </a:r>
            <a:endParaRPr lang="en-US" sz="4800" b="1" dirty="0">
              <a:solidFill>
                <a:schemeClr val="bg1"/>
              </a:solidFill>
            </a:endParaRPr>
          </a:p>
          <a:p>
            <a:pPr defTabSz="2486025">
              <a:lnSpc>
                <a:spcPct val="90000"/>
              </a:lnSpc>
              <a:spcBef>
                <a:spcPct val="0"/>
              </a:spcBef>
              <a:spcAft>
                <a:spcPct val="35000"/>
              </a:spcAft>
            </a:pPr>
            <a:r>
              <a:rPr lang="vi-VN" sz="4000" b="1" i="0" dirty="0">
                <a:solidFill>
                  <a:srgbClr val="011627"/>
                </a:solidFill>
                <a:effectLst/>
                <a:latin typeface="Söhne"/>
              </a:rPr>
              <a:t>Truy cập vào môi trường phát triển từ bất kỳ đâu, bất kỳ khi nào, chỉ cần có trình duyệt </a:t>
            </a:r>
            <a:r>
              <a:rPr lang="vi-VN" sz="4000" b="1" i="0" dirty="0" err="1">
                <a:solidFill>
                  <a:srgbClr val="011627"/>
                </a:solidFill>
                <a:effectLst/>
                <a:latin typeface="Söhne"/>
              </a:rPr>
              <a:t>web</a:t>
            </a:r>
            <a:r>
              <a:rPr lang="vi-VN" sz="4000" b="1" i="0" dirty="0">
                <a:solidFill>
                  <a:srgbClr val="011627"/>
                </a:solidFill>
                <a:effectLst/>
                <a:latin typeface="Söhne"/>
              </a:rPr>
              <a:t> và kết nối </a:t>
            </a:r>
            <a:r>
              <a:rPr lang="vi-VN" sz="4000" b="1" i="0" dirty="0" err="1">
                <a:solidFill>
                  <a:srgbClr val="011627"/>
                </a:solidFill>
                <a:effectLst/>
                <a:latin typeface="Söhne"/>
              </a:rPr>
              <a:t>internet</a:t>
            </a:r>
            <a:r>
              <a:rPr lang="vi-VN" sz="4000" b="1" i="0" dirty="0">
                <a:solidFill>
                  <a:srgbClr val="011627"/>
                </a:solidFill>
                <a:effectLst/>
                <a:latin typeface="Söhne"/>
              </a:rPr>
              <a:t>.</a:t>
            </a:r>
            <a:endParaRPr lang="en-US" sz="4000" b="1" kern="1200" dirty="0">
              <a:solidFill>
                <a:srgbClr val="011627"/>
              </a:solidFill>
            </a:endParaRPr>
          </a:p>
        </p:txBody>
      </p:sp>
      <p:sp>
        <p:nvSpPr>
          <p:cNvPr id="5" name="Hình chữ nhật 4">
            <a:hlinkClick r:id="" action="ppaction://noaction"/>
            <a:extLst>
              <a:ext uri="{FF2B5EF4-FFF2-40B4-BE49-F238E27FC236}">
                <a16:creationId xmlns:a16="http://schemas.microsoft.com/office/drawing/2014/main" id="{361401C1-99C9-E0B6-FA43-E9D50A655658}"/>
              </a:ext>
            </a:extLst>
          </p:cNvPr>
          <p:cNvSpPr/>
          <p:nvPr/>
        </p:nvSpPr>
        <p:spPr>
          <a:xfrm>
            <a:off x="9814560" y="0"/>
            <a:ext cx="2377440" cy="6858000"/>
          </a:xfrm>
          <a:prstGeom prst="rect">
            <a:avLst/>
          </a:prstGeom>
          <a:solidFill>
            <a:srgbClr val="41EAD4"/>
          </a:solidFill>
          <a:ln>
            <a:noFill/>
          </a:ln>
        </p:spPr>
        <p:style>
          <a:lnRef idx="2">
            <a:schemeClr val="accent2">
              <a:shade val="50000"/>
            </a:schemeClr>
          </a:lnRef>
          <a:fillRef idx="1">
            <a:schemeClr val="accent2"/>
          </a:fillRef>
          <a:effectRef idx="0">
            <a:schemeClr val="accent2"/>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tx1"/>
                </a:solidFill>
                <a:effectLst/>
              </a:rPr>
              <a:t>Bảo</a:t>
            </a:r>
            <a:r>
              <a:rPr lang="en-US" sz="4800" b="1" i="0" dirty="0">
                <a:solidFill>
                  <a:schemeClr val="tx1"/>
                </a:solidFill>
                <a:effectLst/>
              </a:rPr>
              <a:t> </a:t>
            </a:r>
            <a:r>
              <a:rPr lang="en-US" sz="4800" b="1" i="0" dirty="0" err="1">
                <a:solidFill>
                  <a:schemeClr val="tx1"/>
                </a:solidFill>
                <a:effectLst/>
              </a:rPr>
              <a:t>mật</a:t>
            </a:r>
            <a:r>
              <a:rPr lang="en-US" sz="4800" b="1" i="0" dirty="0">
                <a:solidFill>
                  <a:schemeClr val="tx1"/>
                </a:solidFill>
                <a:effectLst/>
              </a:rPr>
              <a:t> </a:t>
            </a:r>
            <a:r>
              <a:rPr lang="en-US" sz="4800" b="1" i="0" dirty="0" err="1">
                <a:solidFill>
                  <a:schemeClr val="tx1"/>
                </a:solidFill>
                <a:effectLst/>
              </a:rPr>
              <a:t>và</a:t>
            </a:r>
            <a:r>
              <a:rPr lang="en-US" sz="4800" b="1" i="0" dirty="0">
                <a:solidFill>
                  <a:schemeClr val="tx1"/>
                </a:solidFill>
                <a:effectLst/>
              </a:rPr>
              <a:t> tin </a:t>
            </a:r>
            <a:r>
              <a:rPr lang="en-US" sz="4800" b="1" i="0" dirty="0" err="1">
                <a:solidFill>
                  <a:schemeClr val="tx1"/>
                </a:solidFill>
                <a:effectLst/>
              </a:rPr>
              <a:t>cậy</a:t>
            </a:r>
            <a:endParaRPr lang="en-US" sz="4800" b="1" i="0" dirty="0">
              <a:solidFill>
                <a:schemeClr val="tx1"/>
              </a:solidFill>
              <a:effectLst/>
            </a:endParaRPr>
          </a:p>
          <a:p>
            <a:pPr defTabSz="2486025">
              <a:lnSpc>
                <a:spcPct val="90000"/>
              </a:lnSpc>
              <a:spcBef>
                <a:spcPct val="0"/>
              </a:spcBef>
              <a:spcAft>
                <a:spcPct val="35000"/>
              </a:spcAft>
            </a:pPr>
            <a:r>
              <a:rPr lang="vi-VN" sz="4000" b="1" i="0" dirty="0">
                <a:solidFill>
                  <a:srgbClr val="41EAD4"/>
                </a:solidFill>
                <a:effectLst/>
                <a:latin typeface="Söhne"/>
              </a:rPr>
              <a:t>Dữ liệu và mã nguồn được lưu trữ an toàn trong đám mây AWS, giúp đảm bảo tính riêng tư và đồng bộ hóa.</a:t>
            </a:r>
            <a:endParaRPr lang="en-US" sz="4000" b="1" i="0" dirty="0">
              <a:solidFill>
                <a:srgbClr val="41EAD4"/>
              </a:solidFill>
              <a:effectLst/>
            </a:endParaRPr>
          </a:p>
        </p:txBody>
      </p:sp>
    </p:spTree>
    <p:extLst>
      <p:ext uri="{BB962C8B-B14F-4D97-AF65-F5344CB8AC3E}">
        <p14:creationId xmlns:p14="http://schemas.microsoft.com/office/powerpoint/2010/main" val="10528475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Hình chữ nhật 40">
            <a:hlinkClick r:id="" action="ppaction://noaction"/>
            <a:extLst>
              <a:ext uri="{FF2B5EF4-FFF2-40B4-BE49-F238E27FC236}">
                <a16:creationId xmlns:a16="http://schemas.microsoft.com/office/drawing/2014/main" id="{41295880-7BF9-E501-12F8-30864443444E}"/>
              </a:ext>
            </a:extLst>
          </p:cNvPr>
          <p:cNvSpPr/>
          <p:nvPr/>
        </p:nvSpPr>
        <p:spPr>
          <a:xfrm>
            <a:off x="4754880" y="0"/>
            <a:ext cx="7437120" cy="6858000"/>
          </a:xfrm>
          <a:prstGeom prst="rect">
            <a:avLst/>
          </a:prstGeom>
          <a:solidFill>
            <a:srgbClr val="41EAD4"/>
          </a:solidFill>
          <a:ln>
            <a:noFill/>
          </a:ln>
        </p:spPr>
        <p:style>
          <a:lnRef idx="2">
            <a:schemeClr val="accent2">
              <a:shade val="50000"/>
            </a:schemeClr>
          </a:lnRef>
          <a:fillRef idx="1">
            <a:schemeClr val="accent2"/>
          </a:fillRef>
          <a:effectRef idx="0">
            <a:schemeClr val="accent2"/>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tx1"/>
                </a:solidFill>
                <a:effectLst/>
              </a:rPr>
              <a:t>Bảo</a:t>
            </a:r>
            <a:r>
              <a:rPr lang="en-US" sz="4800" b="1" i="0" dirty="0">
                <a:solidFill>
                  <a:schemeClr val="tx1"/>
                </a:solidFill>
                <a:effectLst/>
              </a:rPr>
              <a:t> </a:t>
            </a:r>
            <a:r>
              <a:rPr lang="en-US" sz="4800" b="1" i="0" dirty="0" err="1">
                <a:solidFill>
                  <a:schemeClr val="tx1"/>
                </a:solidFill>
                <a:effectLst/>
              </a:rPr>
              <a:t>mật</a:t>
            </a:r>
            <a:r>
              <a:rPr lang="en-US" sz="4800" b="1" i="0" dirty="0">
                <a:solidFill>
                  <a:schemeClr val="tx1"/>
                </a:solidFill>
                <a:effectLst/>
              </a:rPr>
              <a:t> </a:t>
            </a:r>
            <a:r>
              <a:rPr lang="en-US" sz="4800" b="1" i="0" dirty="0" err="1">
                <a:solidFill>
                  <a:schemeClr val="tx1"/>
                </a:solidFill>
                <a:effectLst/>
              </a:rPr>
              <a:t>và</a:t>
            </a:r>
            <a:r>
              <a:rPr lang="en-US" sz="4800" b="1" i="0" dirty="0">
                <a:solidFill>
                  <a:schemeClr val="tx1"/>
                </a:solidFill>
                <a:effectLst/>
              </a:rPr>
              <a:t> tin </a:t>
            </a:r>
            <a:r>
              <a:rPr lang="en-US" sz="4800" b="1" i="0" dirty="0" err="1">
                <a:solidFill>
                  <a:schemeClr val="tx1"/>
                </a:solidFill>
                <a:effectLst/>
              </a:rPr>
              <a:t>cậy</a:t>
            </a:r>
            <a:endParaRPr lang="en-US" sz="4800" b="1" i="0" dirty="0">
              <a:solidFill>
                <a:schemeClr val="tx1"/>
              </a:solidFill>
              <a:effectLst/>
            </a:endParaRPr>
          </a:p>
          <a:p>
            <a:pPr defTabSz="2486025">
              <a:lnSpc>
                <a:spcPct val="90000"/>
              </a:lnSpc>
              <a:spcBef>
                <a:spcPct val="0"/>
              </a:spcBef>
              <a:spcAft>
                <a:spcPct val="35000"/>
              </a:spcAft>
            </a:pPr>
            <a:r>
              <a:rPr lang="vi-VN" sz="4000" b="1" i="0" dirty="0">
                <a:solidFill>
                  <a:schemeClr val="tx1"/>
                </a:solidFill>
                <a:effectLst/>
                <a:latin typeface="Söhne"/>
              </a:rPr>
              <a:t>Dữ liệu và mã nguồn được lưu trữ an toàn trong đám mây AWS, giúp đảm bảo tính riêng tư và đồng bộ hóa.</a:t>
            </a:r>
            <a:endParaRPr lang="en-US" sz="4000" b="1" i="0" dirty="0">
              <a:solidFill>
                <a:schemeClr val="tx1"/>
              </a:solidFill>
              <a:effectLst/>
            </a:endParaRPr>
          </a:p>
        </p:txBody>
      </p:sp>
      <p:sp>
        <p:nvSpPr>
          <p:cNvPr id="2" name="Hình chữ nhật 1">
            <a:hlinkClick r:id="rId2" action="ppaction://hlinksldjump"/>
            <a:extLst>
              <a:ext uri="{FF2B5EF4-FFF2-40B4-BE49-F238E27FC236}">
                <a16:creationId xmlns:a16="http://schemas.microsoft.com/office/drawing/2014/main" id="{FBA394D1-E247-E1E5-A53C-4755010EFE5F}"/>
              </a:ext>
            </a:extLst>
          </p:cNvPr>
          <p:cNvSpPr/>
          <p:nvPr/>
        </p:nvSpPr>
        <p:spPr>
          <a:xfrm>
            <a:off x="0" y="0"/>
            <a:ext cx="2377440" cy="6858000"/>
          </a:xfrm>
          <a:prstGeom prst="rect">
            <a:avLst/>
          </a:prstGeom>
          <a:solidFill>
            <a:srgbClr val="011627"/>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dirty="0">
                <a:solidFill>
                  <a:schemeClr val="bg1"/>
                </a:solidFill>
              </a:rPr>
              <a:t>Linh </a:t>
            </a:r>
            <a:r>
              <a:rPr lang="en-US" sz="4800" b="1" dirty="0" err="1">
                <a:solidFill>
                  <a:schemeClr val="bg1"/>
                </a:solidFill>
              </a:rPr>
              <a:t>hoạt</a:t>
            </a:r>
            <a:r>
              <a:rPr lang="en-US" sz="4800" b="1" dirty="0">
                <a:solidFill>
                  <a:schemeClr val="bg1"/>
                </a:solidFill>
              </a:rPr>
              <a:t> </a:t>
            </a:r>
            <a:r>
              <a:rPr lang="en-US" sz="4800" b="1" dirty="0" err="1">
                <a:solidFill>
                  <a:schemeClr val="bg1"/>
                </a:solidFill>
              </a:rPr>
              <a:t>và</a:t>
            </a:r>
            <a:r>
              <a:rPr lang="en-US" sz="4800" b="1" dirty="0">
                <a:solidFill>
                  <a:schemeClr val="bg1"/>
                </a:solidFill>
              </a:rPr>
              <a:t> </a:t>
            </a:r>
            <a:r>
              <a:rPr lang="en-US" sz="4800" b="1" dirty="0" err="1">
                <a:solidFill>
                  <a:schemeClr val="bg1"/>
                </a:solidFill>
              </a:rPr>
              <a:t>tiện</a:t>
            </a:r>
            <a:r>
              <a:rPr lang="en-US" sz="4800" b="1" dirty="0">
                <a:solidFill>
                  <a:schemeClr val="bg1"/>
                </a:solidFill>
              </a:rPr>
              <a:t> </a:t>
            </a:r>
            <a:r>
              <a:rPr lang="en-US" sz="4800" b="1" dirty="0" err="1">
                <a:solidFill>
                  <a:schemeClr val="bg1"/>
                </a:solidFill>
              </a:rPr>
              <a:t>lợi</a:t>
            </a:r>
            <a:endParaRPr lang="en-US" sz="4800" b="1" dirty="0">
              <a:solidFill>
                <a:schemeClr val="bg1"/>
              </a:solidFill>
            </a:endParaRPr>
          </a:p>
          <a:p>
            <a:pPr defTabSz="2486025">
              <a:lnSpc>
                <a:spcPct val="90000"/>
              </a:lnSpc>
              <a:spcBef>
                <a:spcPct val="0"/>
              </a:spcBef>
              <a:spcAft>
                <a:spcPct val="35000"/>
              </a:spcAft>
            </a:pPr>
            <a:r>
              <a:rPr lang="vi-VN" sz="4000" b="1" i="0" dirty="0">
                <a:solidFill>
                  <a:srgbClr val="011627"/>
                </a:solidFill>
                <a:effectLst/>
                <a:latin typeface="Söhne"/>
              </a:rPr>
              <a:t>Truy cập vào môi trường phát triển từ bất kỳ đâu, bất kỳ khi nào, chỉ cần có trình duyệt </a:t>
            </a:r>
            <a:r>
              <a:rPr lang="vi-VN" sz="4000" b="1" i="0" dirty="0" err="1">
                <a:solidFill>
                  <a:srgbClr val="011627"/>
                </a:solidFill>
                <a:effectLst/>
                <a:latin typeface="Söhne"/>
              </a:rPr>
              <a:t>web</a:t>
            </a:r>
            <a:r>
              <a:rPr lang="vi-VN" sz="4000" b="1" i="0" dirty="0">
                <a:solidFill>
                  <a:srgbClr val="011627"/>
                </a:solidFill>
                <a:effectLst/>
                <a:latin typeface="Söhne"/>
              </a:rPr>
              <a:t> và kết nối </a:t>
            </a:r>
            <a:r>
              <a:rPr lang="vi-VN" sz="4000" b="1" i="0" dirty="0" err="1">
                <a:solidFill>
                  <a:srgbClr val="011627"/>
                </a:solidFill>
                <a:effectLst/>
                <a:latin typeface="Söhne"/>
              </a:rPr>
              <a:t>internet</a:t>
            </a:r>
            <a:r>
              <a:rPr lang="vi-VN" sz="4000" b="1" i="0" dirty="0">
                <a:solidFill>
                  <a:srgbClr val="011627"/>
                </a:solidFill>
                <a:effectLst/>
                <a:latin typeface="Söhne"/>
              </a:rPr>
              <a:t>.</a:t>
            </a:r>
            <a:endParaRPr lang="en-US" sz="4000" b="1" kern="1200" dirty="0">
              <a:solidFill>
                <a:srgbClr val="011627"/>
              </a:solidFill>
            </a:endParaRPr>
          </a:p>
        </p:txBody>
      </p:sp>
      <p:sp>
        <p:nvSpPr>
          <p:cNvPr id="3" name="Hình chữ nhật 2">
            <a:hlinkClick r:id="" action="ppaction://noaction"/>
            <a:extLst>
              <a:ext uri="{FF2B5EF4-FFF2-40B4-BE49-F238E27FC236}">
                <a16:creationId xmlns:a16="http://schemas.microsoft.com/office/drawing/2014/main" id="{1BBBCADF-E30B-BAC0-B96C-9CAEE8DBE75F}"/>
              </a:ext>
            </a:extLst>
          </p:cNvPr>
          <p:cNvSpPr/>
          <p:nvPr/>
        </p:nvSpPr>
        <p:spPr>
          <a:xfrm>
            <a:off x="2377440" y="0"/>
            <a:ext cx="2377440" cy="6858000"/>
          </a:xfrm>
          <a:prstGeom prst="rect">
            <a:avLst/>
          </a:prstGeom>
          <a:solidFill>
            <a:srgbClr val="F71735"/>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365760" tIns="2377440" rIns="365760" bIns="213361" numCol="1" spcCol="1270" rtlCol="0" anchor="t" anchorCtr="0">
            <a:noAutofit/>
          </a:bodyPr>
          <a:lstStyle/>
          <a:p>
            <a:pPr algn="ctr" defTabSz="2486025">
              <a:lnSpc>
                <a:spcPct val="90000"/>
              </a:lnSpc>
              <a:spcBef>
                <a:spcPct val="0"/>
              </a:spcBef>
              <a:spcAft>
                <a:spcPct val="35000"/>
              </a:spcAft>
            </a:pPr>
            <a:r>
              <a:rPr lang="en-US" sz="4800" b="1" i="0" dirty="0" err="1">
                <a:solidFill>
                  <a:schemeClr val="bg1"/>
                </a:solidFill>
                <a:effectLst/>
              </a:rPr>
              <a:t>Cộng</a:t>
            </a:r>
            <a:r>
              <a:rPr lang="en-US" sz="4800" b="1" i="0" dirty="0">
                <a:solidFill>
                  <a:schemeClr val="bg1"/>
                </a:solidFill>
                <a:effectLst/>
              </a:rPr>
              <a:t> </a:t>
            </a:r>
            <a:r>
              <a:rPr lang="en-US" sz="4800" b="1" i="0" dirty="0" err="1">
                <a:solidFill>
                  <a:schemeClr val="bg1"/>
                </a:solidFill>
                <a:effectLst/>
              </a:rPr>
              <a:t>tác</a:t>
            </a:r>
            <a:r>
              <a:rPr lang="en-US" sz="4800" b="1" i="0" dirty="0">
                <a:solidFill>
                  <a:schemeClr val="bg1"/>
                </a:solidFill>
                <a:effectLst/>
              </a:rPr>
              <a:t> </a:t>
            </a:r>
            <a:r>
              <a:rPr lang="en-US" sz="4800" b="1" i="0" dirty="0" err="1">
                <a:solidFill>
                  <a:schemeClr val="bg1"/>
                </a:solidFill>
                <a:effectLst/>
              </a:rPr>
              <a:t>dễ</a:t>
            </a:r>
            <a:r>
              <a:rPr lang="en-US" sz="4800" b="1" i="0" dirty="0">
                <a:solidFill>
                  <a:schemeClr val="bg1"/>
                </a:solidFill>
                <a:effectLst/>
              </a:rPr>
              <a:t> </a:t>
            </a:r>
            <a:r>
              <a:rPr lang="en-US" sz="4800" b="1" i="0" dirty="0" err="1">
                <a:solidFill>
                  <a:schemeClr val="bg1"/>
                </a:solidFill>
                <a:effectLst/>
              </a:rPr>
              <a:t>dàng</a:t>
            </a:r>
            <a:endParaRPr lang="en-US" sz="4800" b="1" i="0" dirty="0">
              <a:solidFill>
                <a:schemeClr val="bg1"/>
              </a:solidFill>
              <a:effectLst/>
            </a:endParaRPr>
          </a:p>
          <a:p>
            <a:pPr defTabSz="2486025">
              <a:lnSpc>
                <a:spcPct val="90000"/>
              </a:lnSpc>
              <a:spcBef>
                <a:spcPct val="0"/>
              </a:spcBef>
              <a:spcAft>
                <a:spcPct val="35000"/>
              </a:spcAft>
            </a:pPr>
            <a:r>
              <a:rPr lang="vi-VN" sz="4000" b="1" i="0" dirty="0">
                <a:solidFill>
                  <a:srgbClr val="F71735"/>
                </a:solidFill>
                <a:effectLst/>
                <a:latin typeface="Söhne"/>
              </a:rPr>
              <a:t>Cho phép đội ngũ phát triển làm việc cùng nhau trên cùng một dự án mà không cần cài đặt môi trường phát triển trên mỗi máy tính.</a:t>
            </a:r>
            <a:endParaRPr lang="en-US" sz="4000" b="1" i="0" dirty="0">
              <a:solidFill>
                <a:srgbClr val="F71735"/>
              </a:solidFill>
              <a:effectLst/>
            </a:endParaRPr>
          </a:p>
        </p:txBody>
      </p:sp>
    </p:spTree>
    <p:extLst>
      <p:ext uri="{BB962C8B-B14F-4D97-AF65-F5344CB8AC3E}">
        <p14:creationId xmlns:p14="http://schemas.microsoft.com/office/powerpoint/2010/main" val="20713092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0" y="228600"/>
            <a:ext cx="8799006" cy="859055"/>
          </a:xfrm>
        </p:spPr>
        <p:txBody>
          <a:bodyPr>
            <a:normAutofit/>
          </a:bodyPr>
          <a:lstStyle/>
          <a:p>
            <a:r>
              <a:rPr lang="en-US" dirty="0" err="1"/>
              <a:t>Lợi</a:t>
            </a:r>
            <a:r>
              <a:rPr lang="en-US" dirty="0"/>
              <a:t> </a:t>
            </a:r>
            <a:r>
              <a:rPr lang="en-US" dirty="0" err="1"/>
              <a:t>ích</a:t>
            </a:r>
            <a:r>
              <a:rPr lang="en-US" dirty="0"/>
              <a:t> </a:t>
            </a:r>
            <a:r>
              <a:rPr lang="en-US" dirty="0" err="1"/>
              <a:t>khi</a:t>
            </a:r>
            <a:r>
              <a:rPr lang="en-US" dirty="0"/>
              <a:t> </a:t>
            </a:r>
            <a:r>
              <a:rPr lang="en-US" dirty="0" err="1"/>
              <a:t>dùng</a:t>
            </a:r>
            <a:r>
              <a:rPr lang="en-US" dirty="0"/>
              <a:t> AWS Cloud9</a:t>
            </a:r>
          </a:p>
        </p:txBody>
      </p:sp>
      <p:sp>
        <p:nvSpPr>
          <p:cNvPr id="9" name="Hình chữ nhật: Góc Tròn 8">
            <a:hlinkClick r:id="rId2" action="ppaction://hlinksldjump"/>
            <a:extLst>
              <a:ext uri="{FF2B5EF4-FFF2-40B4-BE49-F238E27FC236}">
                <a16:creationId xmlns:a16="http://schemas.microsoft.com/office/drawing/2014/main" id="{1FD030D6-5181-8F79-A1F8-E4447DF2AFD3}"/>
              </a:ext>
            </a:extLst>
          </p:cNvPr>
          <p:cNvSpPr>
            <a:spLocks/>
          </p:cNvSpPr>
          <p:nvPr/>
        </p:nvSpPr>
        <p:spPr>
          <a:xfrm>
            <a:off x="984921" y="2046231"/>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Tích</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hợp</a:t>
            </a:r>
            <a:r>
              <a:rPr kumimoji="0" lang="en-US" sz="5400" b="1" i="0" u="none" strike="noStrike" kern="1200" cap="none" spc="0" normalizeH="0" baseline="0" noProof="0" dirty="0">
                <a:ln>
                  <a:noFill/>
                </a:ln>
                <a:solidFill>
                  <a:prstClr val="black"/>
                </a:solidFill>
                <a:effectLst/>
                <a:uLnTx/>
                <a:uFillTx/>
                <a:latin typeface="Söhne"/>
                <a:ea typeface="+mn-ea"/>
                <a:cs typeface="+mn-cs"/>
              </a:rPr>
              <a:t> Git</a:t>
            </a:r>
          </a:p>
        </p:txBody>
      </p:sp>
      <p:sp>
        <p:nvSpPr>
          <p:cNvPr id="10" name="Hình chữ nhật: Góc Tròn 9">
            <a:hlinkClick r:id="rId3" action="ppaction://hlinksldjump"/>
            <a:extLst>
              <a:ext uri="{FF2B5EF4-FFF2-40B4-BE49-F238E27FC236}">
                <a16:creationId xmlns:a16="http://schemas.microsoft.com/office/drawing/2014/main" id="{5A13DD74-1237-43C9-0214-BA74E1A3EEDA}"/>
              </a:ext>
            </a:extLst>
          </p:cNvPr>
          <p:cNvSpPr/>
          <p:nvPr/>
        </p:nvSpPr>
        <p:spPr>
          <a:xfrm>
            <a:off x="6548955" y="2046231"/>
            <a:ext cx="4500102" cy="1880637"/>
          </a:xfrm>
          <a:prstGeom prst="roundRect">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5400" b="1" i="0" u="none" strike="noStrike" kern="1200" cap="none" spc="0" normalizeH="0" baseline="0" noProof="0" dirty="0">
                <a:ln>
                  <a:noFill/>
                </a:ln>
                <a:solidFill>
                  <a:prstClr val="black"/>
                </a:solidFill>
                <a:effectLst/>
                <a:uLnTx/>
                <a:uFillTx/>
                <a:latin typeface="Söhne"/>
                <a:ea typeface="+mn-ea"/>
                <a:cs typeface="+mn-cs"/>
              </a:rPr>
              <a:t>Truy cập từ xa</a:t>
            </a:r>
          </a:p>
        </p:txBody>
      </p:sp>
      <p:sp>
        <p:nvSpPr>
          <p:cNvPr id="11" name="Hình chữ nhật: Góc Tròn 10">
            <a:hlinkClick r:id="rId4" action="ppaction://hlinksldjump"/>
            <a:extLst>
              <a:ext uri="{FF2B5EF4-FFF2-40B4-BE49-F238E27FC236}">
                <a16:creationId xmlns:a16="http://schemas.microsoft.com/office/drawing/2014/main" id="{A7FA45A6-3BF4-7D60-68A1-4505F2E742C7}"/>
              </a:ext>
            </a:extLst>
          </p:cNvPr>
          <p:cNvSpPr/>
          <p:nvPr/>
        </p:nvSpPr>
        <p:spPr>
          <a:xfrm>
            <a:off x="3834899" y="4306312"/>
            <a:ext cx="4500102" cy="1880637"/>
          </a:xfrm>
          <a:prstGeom prst="roundRect">
            <a:avLst/>
          </a:prstGeom>
          <a:solidFill>
            <a:schemeClr val="accent3"/>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Gỡ</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lỗi</a:t>
            </a:r>
            <a:endParaRPr kumimoji="0" lang="en-US" sz="5400" b="1" i="0" u="none" strike="noStrike" kern="1200" cap="none" spc="0" normalizeH="0" baseline="0" noProof="0" dirty="0">
              <a:ln>
                <a:noFill/>
              </a:ln>
              <a:solidFill>
                <a:prstClr val="black"/>
              </a:solidFill>
              <a:effectLst/>
              <a:uLnTx/>
              <a:uFillTx/>
              <a:latin typeface="Söhne"/>
              <a:ea typeface="+mn-ea"/>
              <a:cs typeface="+mn-cs"/>
            </a:endParaRPr>
          </a:p>
        </p:txBody>
      </p:sp>
    </p:spTree>
    <p:extLst>
      <p:ext uri="{BB962C8B-B14F-4D97-AF65-F5344CB8AC3E}">
        <p14:creationId xmlns:p14="http://schemas.microsoft.com/office/powerpoint/2010/main" val="1151405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Nhóm 1">
            <a:extLst>
              <a:ext uri="{FF2B5EF4-FFF2-40B4-BE49-F238E27FC236}">
                <a16:creationId xmlns:a16="http://schemas.microsoft.com/office/drawing/2014/main" id="{A59DE796-D4DD-6D7C-625C-B65610961029}"/>
              </a:ext>
            </a:extLst>
          </p:cNvPr>
          <p:cNvGrpSpPr/>
          <p:nvPr/>
        </p:nvGrpSpPr>
        <p:grpSpPr>
          <a:xfrm>
            <a:off x="1039019" y="1794202"/>
            <a:ext cx="3200766" cy="3208640"/>
            <a:chOff x="1039019" y="1794202"/>
            <a:chExt cx="3200766" cy="3208640"/>
          </a:xfrm>
        </p:grpSpPr>
        <p:grpSp>
          <p:nvGrpSpPr>
            <p:cNvPr id="11" name="Group 46">
              <a:extLst>
                <a:ext uri="{FF2B5EF4-FFF2-40B4-BE49-F238E27FC236}">
                  <a16:creationId xmlns:a16="http://schemas.microsoft.com/office/drawing/2014/main" id="{6A210DF4-E6CA-3A77-C60F-ADAD669E292C}"/>
                </a:ext>
              </a:extLst>
            </p:cNvPr>
            <p:cNvGrpSpPr/>
            <p:nvPr/>
          </p:nvGrpSpPr>
          <p:grpSpPr>
            <a:xfrm>
              <a:off x="1039019" y="1794202"/>
              <a:ext cx="3200766" cy="3208640"/>
              <a:chOff x="4273983" y="868680"/>
              <a:chExt cx="2743200" cy="2743200"/>
            </a:xfrm>
            <a:solidFill>
              <a:schemeClr val="accent4">
                <a:lumMod val="75000"/>
              </a:schemeClr>
            </a:solidFill>
          </p:grpSpPr>
          <p:sp>
            <p:nvSpPr>
              <p:cNvPr id="16" name="Arc 39">
                <a:extLst>
                  <a:ext uri="{FF2B5EF4-FFF2-40B4-BE49-F238E27FC236}">
                    <a16:creationId xmlns:a16="http://schemas.microsoft.com/office/drawing/2014/main" id="{E0303B4A-D49F-60E9-D2D9-B5929705BA88}"/>
                  </a:ext>
                </a:extLst>
              </p:cNvPr>
              <p:cNvSpPr/>
              <p:nvPr/>
            </p:nvSpPr>
            <p:spPr>
              <a:xfrm>
                <a:off x="4273983" y="868680"/>
                <a:ext cx="2743200" cy="2743200"/>
              </a:xfrm>
              <a:prstGeom prst="arc">
                <a:avLst>
                  <a:gd name="adj1" fmla="val 16200000"/>
                  <a:gd name="adj2" fmla="val 21582964"/>
                </a:avLst>
              </a:prstGeom>
              <a:grpFill/>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43">
                <a:extLst>
                  <a:ext uri="{FF2B5EF4-FFF2-40B4-BE49-F238E27FC236}">
                    <a16:creationId xmlns:a16="http://schemas.microsoft.com/office/drawing/2014/main" id="{C96F7C90-695C-CCD5-0E41-27DD917CA6F1}"/>
                  </a:ext>
                </a:extLst>
              </p:cNvPr>
              <p:cNvCxnSpPr>
                <a:stCxn id="16" idx="0"/>
              </p:cNvCxnSpPr>
              <p:nvPr/>
            </p:nvCxnSpPr>
            <p:spPr>
              <a:xfrm>
                <a:off x="5645583" y="868680"/>
                <a:ext cx="0" cy="1371600"/>
              </a:xfrm>
              <a:prstGeom prst="line">
                <a:avLst/>
              </a:prstGeom>
              <a:grpFill/>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45">
                <a:extLst>
                  <a:ext uri="{FF2B5EF4-FFF2-40B4-BE49-F238E27FC236}">
                    <a16:creationId xmlns:a16="http://schemas.microsoft.com/office/drawing/2014/main" id="{B0877FFB-7FAD-4E78-7B6B-4FA3DF0F61DE}"/>
                  </a:ext>
                </a:extLst>
              </p:cNvPr>
              <p:cNvCxnSpPr>
                <a:cxnSpLocks/>
              </p:cNvCxnSpPr>
              <p:nvPr/>
            </p:nvCxnSpPr>
            <p:spPr>
              <a:xfrm>
                <a:off x="5645583" y="2237242"/>
                <a:ext cx="1371600" cy="0"/>
              </a:xfrm>
              <a:prstGeom prst="line">
                <a:avLst/>
              </a:prstGeom>
              <a:grpFill/>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47">
              <a:extLst>
                <a:ext uri="{FF2B5EF4-FFF2-40B4-BE49-F238E27FC236}">
                  <a16:creationId xmlns:a16="http://schemas.microsoft.com/office/drawing/2014/main" id="{E4DDFF4D-5E14-D40C-DE0E-4705CE912FF8}"/>
                </a:ext>
              </a:extLst>
            </p:cNvPr>
            <p:cNvGrpSpPr/>
            <p:nvPr/>
          </p:nvGrpSpPr>
          <p:grpSpPr>
            <a:xfrm flipV="1">
              <a:off x="1039019" y="1794202"/>
              <a:ext cx="3200766" cy="3208640"/>
              <a:chOff x="4273983" y="868680"/>
              <a:chExt cx="2743200" cy="2743200"/>
            </a:xfrm>
            <a:solidFill>
              <a:schemeClr val="accent4">
                <a:lumMod val="60000"/>
                <a:lumOff val="40000"/>
              </a:schemeClr>
            </a:solidFill>
          </p:grpSpPr>
          <p:sp>
            <p:nvSpPr>
              <p:cNvPr id="13" name="Arc 48">
                <a:extLst>
                  <a:ext uri="{FF2B5EF4-FFF2-40B4-BE49-F238E27FC236}">
                    <a16:creationId xmlns:a16="http://schemas.microsoft.com/office/drawing/2014/main" id="{95F4FBCF-6E45-D544-AE09-13B200602FFB}"/>
                  </a:ext>
                </a:extLst>
              </p:cNvPr>
              <p:cNvSpPr/>
              <p:nvPr/>
            </p:nvSpPr>
            <p:spPr>
              <a:xfrm>
                <a:off x="4273983" y="868680"/>
                <a:ext cx="2743200" cy="2743200"/>
              </a:xfrm>
              <a:prstGeom prst="arc">
                <a:avLst>
                  <a:gd name="adj1" fmla="val 16200000"/>
                  <a:gd name="adj2" fmla="val 21582964"/>
                </a:avLst>
              </a:prstGeom>
              <a:grpFill/>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Connector 49">
                <a:extLst>
                  <a:ext uri="{FF2B5EF4-FFF2-40B4-BE49-F238E27FC236}">
                    <a16:creationId xmlns:a16="http://schemas.microsoft.com/office/drawing/2014/main" id="{9A137F07-D1B5-7927-1908-67C491ADC3D4}"/>
                  </a:ext>
                </a:extLst>
              </p:cNvPr>
              <p:cNvCxnSpPr>
                <a:stCxn id="13" idx="0"/>
              </p:cNvCxnSpPr>
              <p:nvPr/>
            </p:nvCxnSpPr>
            <p:spPr>
              <a:xfrm>
                <a:off x="5645583" y="868680"/>
                <a:ext cx="0" cy="1371600"/>
              </a:xfrm>
              <a:prstGeom prst="line">
                <a:avLst/>
              </a:prstGeom>
              <a:grpFill/>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50">
                <a:extLst>
                  <a:ext uri="{FF2B5EF4-FFF2-40B4-BE49-F238E27FC236}">
                    <a16:creationId xmlns:a16="http://schemas.microsoft.com/office/drawing/2014/main" id="{A1EA5AA2-114E-0567-F4AC-C4DD3C4B29AD}"/>
                  </a:ext>
                </a:extLst>
              </p:cNvPr>
              <p:cNvCxnSpPr>
                <a:cxnSpLocks/>
              </p:cNvCxnSpPr>
              <p:nvPr/>
            </p:nvCxnSpPr>
            <p:spPr>
              <a:xfrm>
                <a:off x="5645583" y="2237242"/>
                <a:ext cx="1371600" cy="0"/>
              </a:xfrm>
              <a:prstGeom prst="line">
                <a:avLst/>
              </a:prstGeom>
              <a:grpFill/>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sp>
        <p:nvSpPr>
          <p:cNvPr id="19" name="Rectangle: Rounded Corners 5">
            <a:extLst>
              <a:ext uri="{FF2B5EF4-FFF2-40B4-BE49-F238E27FC236}">
                <a16:creationId xmlns:a16="http://schemas.microsoft.com/office/drawing/2014/main" id="{6D1932A2-BDDC-2C93-87E7-E1720F412F75}"/>
              </a:ext>
            </a:extLst>
          </p:cNvPr>
          <p:cNvSpPr/>
          <p:nvPr/>
        </p:nvSpPr>
        <p:spPr>
          <a:xfrm>
            <a:off x="1267645" y="2023391"/>
            <a:ext cx="2743513" cy="2750263"/>
          </a:xfrm>
          <a:prstGeom prst="roundRect">
            <a:avLst>
              <a:gd name="adj" fmla="val 50000"/>
            </a:avLst>
          </a:prstGeom>
          <a:ln>
            <a:noFill/>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a:ln>
                  <a:noFill/>
                </a:ln>
                <a:solidFill>
                  <a:prstClr val="black"/>
                </a:solidFill>
                <a:effectLst/>
                <a:uLnTx/>
                <a:uFillTx/>
                <a:latin typeface="Söhne"/>
                <a:ea typeface="+mn-ea"/>
                <a:cs typeface="+mn-cs"/>
              </a:rPr>
              <a:t>Gỡ lỗi</a:t>
            </a:r>
            <a:endParaRPr kumimoji="0" lang="en-US" sz="7200" b="1" i="0" u="none" strike="noStrike" kern="1200" cap="none" spc="0" normalizeH="0" baseline="0" noProof="0" dirty="0">
              <a:ln>
                <a:noFill/>
              </a:ln>
              <a:solidFill>
                <a:prstClr val="black"/>
              </a:solidFill>
              <a:effectLst/>
              <a:uLnTx/>
              <a:uFillTx/>
              <a:latin typeface="Söhne"/>
              <a:ea typeface="+mn-ea"/>
              <a:cs typeface="+mn-cs"/>
            </a:endParaRPr>
          </a:p>
        </p:txBody>
      </p:sp>
      <p:sp>
        <p:nvSpPr>
          <p:cNvPr id="21" name="Arc 32">
            <a:extLst>
              <a:ext uri="{FF2B5EF4-FFF2-40B4-BE49-F238E27FC236}">
                <a16:creationId xmlns:a16="http://schemas.microsoft.com/office/drawing/2014/main" id="{97E1EAE6-9DDE-F844-39B2-DBC93BB02664}"/>
              </a:ext>
            </a:extLst>
          </p:cNvPr>
          <p:cNvSpPr/>
          <p:nvPr/>
        </p:nvSpPr>
        <p:spPr>
          <a:xfrm>
            <a:off x="1039019" y="1565014"/>
            <a:ext cx="3474661" cy="3667018"/>
          </a:xfrm>
          <a:prstGeom prst="arc">
            <a:avLst>
              <a:gd name="adj1" fmla="val 17200412"/>
              <a:gd name="adj2" fmla="val 4816800"/>
            </a:avLst>
          </a:prstGeom>
          <a:ln w="57150">
            <a:solidFill>
              <a:schemeClr val="tx1"/>
            </a:solidFill>
            <a:prstDash val="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Oval 33">
            <a:extLst>
              <a:ext uri="{FF2B5EF4-FFF2-40B4-BE49-F238E27FC236}">
                <a16:creationId xmlns:a16="http://schemas.microsoft.com/office/drawing/2014/main" id="{A4628A92-F4D5-7917-ADF8-E106795270F0}"/>
              </a:ext>
            </a:extLst>
          </p:cNvPr>
          <p:cNvSpPr/>
          <p:nvPr/>
        </p:nvSpPr>
        <p:spPr>
          <a:xfrm>
            <a:off x="4422231" y="3360026"/>
            <a:ext cx="182901" cy="183351"/>
          </a:xfrm>
          <a:prstGeom prst="ellipse">
            <a:avLst/>
          </a:prstGeom>
          <a:solidFill>
            <a:schemeClr val="accent4">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Oval 51">
            <a:extLst>
              <a:ext uri="{FF2B5EF4-FFF2-40B4-BE49-F238E27FC236}">
                <a16:creationId xmlns:a16="http://schemas.microsoft.com/office/drawing/2014/main" id="{8B60D71A-1E83-F4E5-6D40-A868149FFAAA}"/>
              </a:ext>
            </a:extLst>
          </p:cNvPr>
          <p:cNvSpPr/>
          <p:nvPr/>
        </p:nvSpPr>
        <p:spPr>
          <a:xfrm>
            <a:off x="4330096" y="2718298"/>
            <a:ext cx="182901" cy="183351"/>
          </a:xfrm>
          <a:prstGeom prst="ellipse">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Oval 52">
            <a:extLst>
              <a:ext uri="{FF2B5EF4-FFF2-40B4-BE49-F238E27FC236}">
                <a16:creationId xmlns:a16="http://schemas.microsoft.com/office/drawing/2014/main" id="{133107D8-F236-EC9C-1508-4CC0E115DCDA}"/>
              </a:ext>
            </a:extLst>
          </p:cNvPr>
          <p:cNvSpPr/>
          <p:nvPr/>
        </p:nvSpPr>
        <p:spPr>
          <a:xfrm>
            <a:off x="4034022" y="2160606"/>
            <a:ext cx="182901" cy="183351"/>
          </a:xfrm>
          <a:prstGeom prst="ellipse">
            <a:avLst/>
          </a:prstGeom>
          <a:solidFill>
            <a:schemeClr val="accent4">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Oval 53">
            <a:extLst>
              <a:ext uri="{FF2B5EF4-FFF2-40B4-BE49-F238E27FC236}">
                <a16:creationId xmlns:a16="http://schemas.microsoft.com/office/drawing/2014/main" id="{809AEB87-1E84-8D94-F0AD-CBBEA570920F}"/>
              </a:ext>
            </a:extLst>
          </p:cNvPr>
          <p:cNvSpPr/>
          <p:nvPr/>
        </p:nvSpPr>
        <p:spPr>
          <a:xfrm>
            <a:off x="4306777" y="3963257"/>
            <a:ext cx="182901" cy="183351"/>
          </a:xfrm>
          <a:prstGeom prst="ellipse">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Oval 54">
            <a:extLst>
              <a:ext uri="{FF2B5EF4-FFF2-40B4-BE49-F238E27FC236}">
                <a16:creationId xmlns:a16="http://schemas.microsoft.com/office/drawing/2014/main" id="{19421507-7FE1-7E67-537A-BD8502EE65A8}"/>
              </a:ext>
            </a:extLst>
          </p:cNvPr>
          <p:cNvSpPr/>
          <p:nvPr/>
        </p:nvSpPr>
        <p:spPr>
          <a:xfrm>
            <a:off x="3998930" y="4515087"/>
            <a:ext cx="182901" cy="183351"/>
          </a:xfrm>
          <a:prstGeom prst="ellipse">
            <a:avLst/>
          </a:prstGeom>
          <a:solidFill>
            <a:schemeClr val="accent4">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Oval 56">
            <a:extLst>
              <a:ext uri="{FF2B5EF4-FFF2-40B4-BE49-F238E27FC236}">
                <a16:creationId xmlns:a16="http://schemas.microsoft.com/office/drawing/2014/main" id="{4D8FDD08-B6B7-E00A-1439-8CD8582EAF7A}"/>
              </a:ext>
            </a:extLst>
          </p:cNvPr>
          <p:cNvSpPr/>
          <p:nvPr/>
        </p:nvSpPr>
        <p:spPr>
          <a:xfrm>
            <a:off x="3203347" y="1565014"/>
            <a:ext cx="182901" cy="183351"/>
          </a:xfrm>
          <a:prstGeom prst="ellipse">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Oval 57">
            <a:extLst>
              <a:ext uri="{FF2B5EF4-FFF2-40B4-BE49-F238E27FC236}">
                <a16:creationId xmlns:a16="http://schemas.microsoft.com/office/drawing/2014/main" id="{76AB2482-19AE-C35D-865D-C4D4203220F3}"/>
              </a:ext>
            </a:extLst>
          </p:cNvPr>
          <p:cNvSpPr/>
          <p:nvPr/>
        </p:nvSpPr>
        <p:spPr>
          <a:xfrm>
            <a:off x="3203347" y="5056319"/>
            <a:ext cx="182901" cy="183351"/>
          </a:xfrm>
          <a:prstGeom prst="ellipse">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9" name="Straight Connector 61">
            <a:extLst>
              <a:ext uri="{FF2B5EF4-FFF2-40B4-BE49-F238E27FC236}">
                <a16:creationId xmlns:a16="http://schemas.microsoft.com/office/drawing/2014/main" id="{1AFD6AE1-DDB4-296A-99C4-C12D36E83964}"/>
              </a:ext>
            </a:extLst>
          </p:cNvPr>
          <p:cNvCxnSpPr>
            <a:cxnSpLocks/>
            <a:stCxn id="24" idx="7"/>
            <a:endCxn id="34" idx="2"/>
          </p:cNvCxnSpPr>
          <p:nvPr/>
        </p:nvCxnSpPr>
        <p:spPr>
          <a:xfrm flipV="1">
            <a:off x="4190138" y="1185695"/>
            <a:ext cx="463272" cy="1001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63">
            <a:extLst>
              <a:ext uri="{FF2B5EF4-FFF2-40B4-BE49-F238E27FC236}">
                <a16:creationId xmlns:a16="http://schemas.microsoft.com/office/drawing/2014/main" id="{55FC0C38-4CB5-8C62-2982-C45187233146}"/>
              </a:ext>
            </a:extLst>
          </p:cNvPr>
          <p:cNvCxnSpPr>
            <a:cxnSpLocks/>
            <a:stCxn id="22" idx="6"/>
            <a:endCxn id="37" idx="2"/>
          </p:cNvCxnSpPr>
          <p:nvPr/>
        </p:nvCxnSpPr>
        <p:spPr>
          <a:xfrm>
            <a:off x="4605132" y="3451702"/>
            <a:ext cx="6282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65">
            <a:extLst>
              <a:ext uri="{FF2B5EF4-FFF2-40B4-BE49-F238E27FC236}">
                <a16:creationId xmlns:a16="http://schemas.microsoft.com/office/drawing/2014/main" id="{8B6CCA07-EBDB-62E2-AB24-B8719078261A}"/>
              </a:ext>
            </a:extLst>
          </p:cNvPr>
          <p:cNvCxnSpPr>
            <a:cxnSpLocks/>
            <a:stCxn id="26" idx="5"/>
            <a:endCxn id="35" idx="2"/>
          </p:cNvCxnSpPr>
          <p:nvPr/>
        </p:nvCxnSpPr>
        <p:spPr>
          <a:xfrm>
            <a:off x="4155046" y="4671587"/>
            <a:ext cx="498363" cy="9424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Nhóm 48">
            <a:extLst>
              <a:ext uri="{FF2B5EF4-FFF2-40B4-BE49-F238E27FC236}">
                <a16:creationId xmlns:a16="http://schemas.microsoft.com/office/drawing/2014/main" id="{CCE196C1-8510-24D8-EC6A-1EDA192838FD}"/>
              </a:ext>
            </a:extLst>
          </p:cNvPr>
          <p:cNvGrpSpPr/>
          <p:nvPr/>
        </p:nvGrpSpPr>
        <p:grpSpPr>
          <a:xfrm>
            <a:off x="4653410" y="187938"/>
            <a:ext cx="6914641" cy="2010893"/>
            <a:chOff x="5116685" y="848003"/>
            <a:chExt cx="6687222" cy="1828800"/>
          </a:xfrm>
          <a:solidFill>
            <a:schemeClr val="accent4">
              <a:lumMod val="60000"/>
              <a:lumOff val="40000"/>
            </a:schemeClr>
          </a:solidFill>
        </p:grpSpPr>
        <p:sp>
          <p:nvSpPr>
            <p:cNvPr id="9" name="Rectangle: Rounded Corners 102">
              <a:extLst>
                <a:ext uri="{FF2B5EF4-FFF2-40B4-BE49-F238E27FC236}">
                  <a16:creationId xmlns:a16="http://schemas.microsoft.com/office/drawing/2014/main" id="{B4E9A7DF-D24B-BFF0-1ADF-052872001C32}"/>
                </a:ext>
              </a:extLst>
            </p:cNvPr>
            <p:cNvSpPr/>
            <p:nvPr/>
          </p:nvSpPr>
          <p:spPr>
            <a:xfrm>
              <a:off x="5436761" y="848003"/>
              <a:ext cx="6367146" cy="1828800"/>
            </a:xfrm>
            <a:prstGeom prst="roundRect">
              <a:avLst>
                <a:gd name="adj" fmla="val 50000"/>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6075" algn="just"/>
              <a:r>
                <a:rPr lang="en-US" sz="2800" b="1" dirty="0" err="1">
                  <a:solidFill>
                    <a:schemeClr val="tx1"/>
                  </a:solidFill>
                </a:rPr>
                <a:t>Sử</a:t>
              </a:r>
              <a:r>
                <a:rPr lang="en-US" sz="2800" b="1" dirty="0">
                  <a:solidFill>
                    <a:schemeClr val="tx1"/>
                  </a:solidFill>
                </a:rPr>
                <a:t> </a:t>
              </a:r>
              <a:r>
                <a:rPr lang="en-US" sz="2800" b="1" dirty="0" err="1">
                  <a:solidFill>
                    <a:schemeClr val="tx1"/>
                  </a:solidFill>
                </a:rPr>
                <a:t>dụng</a:t>
              </a:r>
              <a:r>
                <a:rPr lang="en-US" sz="2800" b="1" dirty="0">
                  <a:solidFill>
                    <a:schemeClr val="tx1"/>
                  </a:solidFill>
                </a:rPr>
                <a:t> </a:t>
              </a:r>
              <a:r>
                <a:rPr lang="en-US" sz="2800" b="1" dirty="0" err="1">
                  <a:solidFill>
                    <a:schemeClr val="tx1"/>
                  </a:solidFill>
                </a:rPr>
                <a:t>các</a:t>
              </a:r>
              <a:r>
                <a:rPr lang="en-US" sz="2800" b="1" dirty="0">
                  <a:solidFill>
                    <a:schemeClr val="tx1"/>
                  </a:solidFill>
                </a:rPr>
                <a:t> </a:t>
              </a:r>
              <a:r>
                <a:rPr lang="en-US" sz="2800" b="1" dirty="0" err="1">
                  <a:solidFill>
                    <a:schemeClr val="tx1"/>
                  </a:solidFill>
                </a:rPr>
                <a:t>công</a:t>
              </a:r>
              <a:r>
                <a:rPr lang="en-US" sz="2800" b="1" dirty="0">
                  <a:solidFill>
                    <a:schemeClr val="tx1"/>
                  </a:solidFill>
                </a:rPr>
                <a:t> </a:t>
              </a:r>
              <a:r>
                <a:rPr lang="en-US" sz="2800" b="1" dirty="0" err="1">
                  <a:solidFill>
                    <a:schemeClr val="tx1"/>
                  </a:solidFill>
                </a:rPr>
                <a:t>cụ</a:t>
              </a:r>
              <a:r>
                <a:rPr lang="en-US" sz="2800" b="1" dirty="0">
                  <a:solidFill>
                    <a:schemeClr val="tx1"/>
                  </a:solidFill>
                </a:rPr>
                <a:t> </a:t>
              </a:r>
              <a:r>
                <a:rPr lang="en-US" sz="2800" b="1" dirty="0" err="1">
                  <a:solidFill>
                    <a:schemeClr val="tx1"/>
                  </a:solidFill>
                </a:rPr>
                <a:t>gỡ</a:t>
              </a:r>
              <a:r>
                <a:rPr lang="en-US" sz="2800" b="1" dirty="0">
                  <a:solidFill>
                    <a:schemeClr val="tx1"/>
                  </a:solidFill>
                </a:rPr>
                <a:t> </a:t>
              </a:r>
              <a:r>
                <a:rPr lang="en-US" sz="2800" b="1" dirty="0" err="1">
                  <a:solidFill>
                    <a:schemeClr val="tx1"/>
                  </a:solidFill>
                </a:rPr>
                <a:t>lỗi</a:t>
              </a:r>
              <a:r>
                <a:rPr lang="en-US" sz="2800" b="1" dirty="0">
                  <a:solidFill>
                    <a:schemeClr val="tx1"/>
                  </a:solidFill>
                </a:rPr>
                <a:t> </a:t>
              </a:r>
              <a:r>
                <a:rPr lang="en-US" sz="2800" b="1" dirty="0" err="1">
                  <a:solidFill>
                    <a:schemeClr val="tx1"/>
                  </a:solidFill>
                </a:rPr>
                <a:t>tích</a:t>
              </a:r>
              <a:r>
                <a:rPr lang="en-US" sz="2800" b="1" dirty="0">
                  <a:solidFill>
                    <a:schemeClr val="tx1"/>
                  </a:solidFill>
                </a:rPr>
                <a:t> </a:t>
              </a:r>
              <a:r>
                <a:rPr lang="en-US" sz="2800" b="1" dirty="0" err="1">
                  <a:solidFill>
                    <a:schemeClr val="tx1"/>
                  </a:solidFill>
                </a:rPr>
                <a:t>hợp</a:t>
              </a:r>
              <a:r>
                <a:rPr lang="en-US" sz="2800" b="1" dirty="0">
                  <a:solidFill>
                    <a:schemeClr val="tx1"/>
                  </a:solidFill>
                </a:rPr>
                <a:t> </a:t>
              </a:r>
              <a:r>
                <a:rPr lang="en-US" sz="2800" b="1" dirty="0" err="1">
                  <a:solidFill>
                    <a:schemeClr val="tx1"/>
                  </a:solidFill>
                </a:rPr>
                <a:t>để</a:t>
              </a:r>
              <a:r>
                <a:rPr lang="en-US" sz="2800" b="1" dirty="0">
                  <a:solidFill>
                    <a:schemeClr val="tx1"/>
                  </a:solidFill>
                </a:rPr>
                <a:t> </a:t>
              </a:r>
              <a:r>
                <a:rPr lang="en-US" sz="2800" b="1" dirty="0" err="1">
                  <a:solidFill>
                    <a:schemeClr val="tx1"/>
                  </a:solidFill>
                </a:rPr>
                <a:t>phát</a:t>
              </a:r>
              <a:r>
                <a:rPr lang="en-US" sz="2800" b="1" dirty="0">
                  <a:solidFill>
                    <a:schemeClr val="tx1"/>
                  </a:solidFill>
                </a:rPr>
                <a:t> </a:t>
              </a:r>
              <a:r>
                <a:rPr lang="en-US" sz="2800" b="1" dirty="0" err="1">
                  <a:solidFill>
                    <a:schemeClr val="tx1"/>
                  </a:solidFill>
                </a:rPr>
                <a:t>hiện</a:t>
              </a:r>
              <a:r>
                <a:rPr lang="en-US" sz="2800" b="1" dirty="0">
                  <a:solidFill>
                    <a:schemeClr val="tx1"/>
                  </a:solidFill>
                </a:rPr>
                <a:t> </a:t>
              </a:r>
              <a:r>
                <a:rPr lang="en-US" sz="2800" b="1" dirty="0" err="1">
                  <a:solidFill>
                    <a:schemeClr val="tx1"/>
                  </a:solidFill>
                </a:rPr>
                <a:t>lỗi</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mã</a:t>
              </a:r>
              <a:r>
                <a:rPr lang="en-US" sz="2800" b="1" dirty="0">
                  <a:solidFill>
                    <a:schemeClr val="tx1"/>
                  </a:solidFill>
                </a:rPr>
                <a:t> </a:t>
              </a:r>
              <a:r>
                <a:rPr lang="en-US" sz="2800" b="1" dirty="0" err="1">
                  <a:solidFill>
                    <a:schemeClr val="tx1"/>
                  </a:solidFill>
                </a:rPr>
                <a:t>nguồn</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cách</a:t>
              </a:r>
              <a:r>
                <a:rPr lang="en-US" sz="2800" b="1" dirty="0">
                  <a:solidFill>
                    <a:schemeClr val="tx1"/>
                  </a:solidFill>
                </a:rPr>
                <a:t> </a:t>
              </a:r>
              <a:r>
                <a:rPr lang="en-US" sz="2800" b="1" dirty="0" err="1">
                  <a:solidFill>
                    <a:schemeClr val="tx1"/>
                  </a:solidFill>
                </a:rPr>
                <a:t>nhanh</a:t>
              </a:r>
              <a:r>
                <a:rPr lang="en-US" sz="2800" b="1" dirty="0">
                  <a:solidFill>
                    <a:schemeClr val="tx1"/>
                  </a:solidFill>
                </a:rPr>
                <a:t> </a:t>
              </a:r>
              <a:r>
                <a:rPr lang="en-US" sz="2800" b="1" dirty="0" err="1">
                  <a:solidFill>
                    <a:schemeClr val="tx1"/>
                  </a:solidFill>
                </a:rPr>
                <a:t>chóng</a:t>
              </a:r>
              <a:r>
                <a:rPr lang="en-US" sz="2800" b="1" dirty="0">
                  <a:solidFill>
                    <a:schemeClr val="tx1"/>
                  </a:solidFill>
                </a:rPr>
                <a:t> </a:t>
              </a:r>
              <a:r>
                <a:rPr lang="en-US" sz="2800" b="1" dirty="0" err="1">
                  <a:solidFill>
                    <a:schemeClr val="tx1"/>
                  </a:solidFill>
                </a:rPr>
                <a:t>và</a:t>
              </a:r>
              <a:r>
                <a:rPr lang="en-US" sz="2800" b="1" dirty="0">
                  <a:solidFill>
                    <a:schemeClr val="tx1"/>
                  </a:solidFill>
                </a:rPr>
                <a:t> </a:t>
              </a:r>
              <a:r>
                <a:rPr lang="en-US" sz="2800" b="1" dirty="0" err="1">
                  <a:solidFill>
                    <a:schemeClr val="tx1"/>
                  </a:solidFill>
                </a:rPr>
                <a:t>chính</a:t>
              </a:r>
              <a:r>
                <a:rPr lang="en-US" sz="2800" b="1" dirty="0">
                  <a:solidFill>
                    <a:schemeClr val="tx1"/>
                  </a:solidFill>
                </a:rPr>
                <a:t> </a:t>
              </a:r>
              <a:r>
                <a:rPr lang="en-US" sz="2800" b="1" dirty="0" err="1">
                  <a:solidFill>
                    <a:schemeClr val="tx1"/>
                  </a:solidFill>
                </a:rPr>
                <a:t>xác</a:t>
              </a:r>
              <a:r>
                <a:rPr lang="en-US" sz="2800" b="1" dirty="0">
                  <a:solidFill>
                    <a:schemeClr val="tx1"/>
                  </a:solidFill>
                </a:rPr>
                <a:t>.</a:t>
              </a:r>
            </a:p>
          </p:txBody>
        </p:sp>
        <p:sp>
          <p:nvSpPr>
            <p:cNvPr id="34" name="Oval 76">
              <a:extLst>
                <a:ext uri="{FF2B5EF4-FFF2-40B4-BE49-F238E27FC236}">
                  <a16:creationId xmlns:a16="http://schemas.microsoft.com/office/drawing/2014/main" id="{36B76D3E-06E1-2F8A-8EB2-A4A05D9B49F8}"/>
                </a:ext>
              </a:extLst>
            </p:cNvPr>
            <p:cNvSpPr/>
            <p:nvPr/>
          </p:nvSpPr>
          <p:spPr>
            <a:xfrm>
              <a:off x="5116685" y="1434545"/>
              <a:ext cx="640153" cy="641728"/>
            </a:xfrm>
            <a:prstGeom prst="ellipse">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dirty="0"/>
                <a:t>1</a:t>
              </a:r>
            </a:p>
          </p:txBody>
        </p:sp>
      </p:grpSp>
      <p:grpSp>
        <p:nvGrpSpPr>
          <p:cNvPr id="47" name="Nhóm 46">
            <a:extLst>
              <a:ext uri="{FF2B5EF4-FFF2-40B4-BE49-F238E27FC236}">
                <a16:creationId xmlns:a16="http://schemas.microsoft.com/office/drawing/2014/main" id="{8C058A07-6895-8606-F3A7-2FA1F5681F5A}"/>
              </a:ext>
            </a:extLst>
          </p:cNvPr>
          <p:cNvGrpSpPr/>
          <p:nvPr/>
        </p:nvGrpSpPr>
        <p:grpSpPr>
          <a:xfrm>
            <a:off x="4653409" y="4704571"/>
            <a:ext cx="6914641" cy="2011680"/>
            <a:chOff x="5109020" y="4330222"/>
            <a:chExt cx="7267180" cy="2011680"/>
          </a:xfrm>
        </p:grpSpPr>
        <p:sp>
          <p:nvSpPr>
            <p:cNvPr id="43" name="Rectangle: Rounded Corners 102">
              <a:extLst>
                <a:ext uri="{FF2B5EF4-FFF2-40B4-BE49-F238E27FC236}">
                  <a16:creationId xmlns:a16="http://schemas.microsoft.com/office/drawing/2014/main" id="{7A181046-E7F9-B793-8597-07347ECCDA66}"/>
                </a:ext>
              </a:extLst>
            </p:cNvPr>
            <p:cNvSpPr/>
            <p:nvPr/>
          </p:nvSpPr>
          <p:spPr>
            <a:xfrm>
              <a:off x="5426760" y="4330222"/>
              <a:ext cx="6949440" cy="2011680"/>
            </a:xfrm>
            <a:prstGeom prst="roundRect">
              <a:avLst>
                <a:gd name="adj" fmla="val 50000"/>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6075" algn="just"/>
              <a:r>
                <a:rPr lang="vi-VN" sz="2800" b="1" dirty="0">
                  <a:solidFill>
                    <a:schemeClr val="tx1"/>
                  </a:solidFill>
                </a:rPr>
                <a:t>Quan sát và theo dõi biến số, lỗi và thông tin </a:t>
              </a:r>
              <a:r>
                <a:rPr lang="vi-VN" sz="2800" b="1" dirty="0" err="1">
                  <a:solidFill>
                    <a:schemeClr val="tx1"/>
                  </a:solidFill>
                </a:rPr>
                <a:t>debug</a:t>
              </a:r>
              <a:r>
                <a:rPr lang="vi-VN" sz="2800" b="1" dirty="0">
                  <a:solidFill>
                    <a:schemeClr val="tx1"/>
                  </a:solidFill>
                </a:rPr>
                <a:t> để hiểu rõ hơn về hoạt động của ứng dụng.</a:t>
              </a:r>
              <a:endParaRPr lang="en-US" sz="2800" b="1" dirty="0">
                <a:solidFill>
                  <a:schemeClr val="tx1"/>
                </a:solidFill>
              </a:endParaRPr>
            </a:p>
          </p:txBody>
        </p:sp>
        <p:sp>
          <p:nvSpPr>
            <p:cNvPr id="35" name="Oval 83">
              <a:extLst>
                <a:ext uri="{FF2B5EF4-FFF2-40B4-BE49-F238E27FC236}">
                  <a16:creationId xmlns:a16="http://schemas.microsoft.com/office/drawing/2014/main" id="{3AE86CD1-789D-EA11-42FD-BE61A38A9722}"/>
                </a:ext>
              </a:extLst>
            </p:cNvPr>
            <p:cNvSpPr/>
            <p:nvPr/>
          </p:nvSpPr>
          <p:spPr>
            <a:xfrm>
              <a:off x="5109020" y="4918806"/>
              <a:ext cx="640153" cy="64172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dirty="0"/>
                <a:t>3</a:t>
              </a:r>
            </a:p>
          </p:txBody>
        </p:sp>
      </p:grpSp>
      <p:grpSp>
        <p:nvGrpSpPr>
          <p:cNvPr id="48" name="Nhóm 47">
            <a:extLst>
              <a:ext uri="{FF2B5EF4-FFF2-40B4-BE49-F238E27FC236}">
                <a16:creationId xmlns:a16="http://schemas.microsoft.com/office/drawing/2014/main" id="{D2E4E486-9125-7C8E-C2F6-1CE5531B7A94}"/>
              </a:ext>
            </a:extLst>
          </p:cNvPr>
          <p:cNvGrpSpPr/>
          <p:nvPr/>
        </p:nvGrpSpPr>
        <p:grpSpPr>
          <a:xfrm>
            <a:off x="5233355" y="2445861"/>
            <a:ext cx="6914641" cy="2011680"/>
            <a:chOff x="5693009" y="2537301"/>
            <a:chExt cx="6687222" cy="1828800"/>
          </a:xfrm>
          <a:solidFill>
            <a:schemeClr val="accent4">
              <a:lumMod val="75000"/>
            </a:schemeClr>
          </a:solidFill>
        </p:grpSpPr>
        <p:sp>
          <p:nvSpPr>
            <p:cNvPr id="41" name="Rectangle: Rounded Corners 102">
              <a:extLst>
                <a:ext uri="{FF2B5EF4-FFF2-40B4-BE49-F238E27FC236}">
                  <a16:creationId xmlns:a16="http://schemas.microsoft.com/office/drawing/2014/main" id="{63504A4D-1EC6-C9CB-1C7B-699B4962A1F8}"/>
                </a:ext>
              </a:extLst>
            </p:cNvPr>
            <p:cNvSpPr/>
            <p:nvPr/>
          </p:nvSpPr>
          <p:spPr>
            <a:xfrm>
              <a:off x="6013085" y="2537301"/>
              <a:ext cx="6367146" cy="1828800"/>
            </a:xfrm>
            <a:prstGeom prst="roundRect">
              <a:avLst>
                <a:gd name="adj" fmla="val 50000"/>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6075" algn="just"/>
              <a:r>
                <a:rPr lang="vi-VN" sz="2800" b="1" dirty="0">
                  <a:solidFill>
                    <a:schemeClr val="bg1"/>
                  </a:solidFill>
                </a:rPr>
                <a:t>Tương thích với nhiều ngôn ngữ lập trình và khả năng đồng bộ hóa môi trường gỡ lỗi để phù hợp với dự án cụ thể.</a:t>
              </a:r>
              <a:endParaRPr lang="en-US" sz="2800" b="1" dirty="0">
                <a:solidFill>
                  <a:schemeClr val="bg1"/>
                </a:solidFill>
              </a:endParaRPr>
            </a:p>
          </p:txBody>
        </p:sp>
        <p:sp>
          <p:nvSpPr>
            <p:cNvPr id="37" name="Oval 85">
              <a:extLst>
                <a:ext uri="{FF2B5EF4-FFF2-40B4-BE49-F238E27FC236}">
                  <a16:creationId xmlns:a16="http://schemas.microsoft.com/office/drawing/2014/main" id="{07DF6C5F-E442-1802-96A9-8099DE898141}"/>
                </a:ext>
              </a:extLst>
            </p:cNvPr>
            <p:cNvSpPr/>
            <p:nvPr/>
          </p:nvSpPr>
          <p:spPr>
            <a:xfrm>
              <a:off x="5693009" y="3130837"/>
              <a:ext cx="640153" cy="641728"/>
            </a:xfrm>
            <a:prstGeom prst="ellipse">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dirty="0"/>
                <a:t>2</a:t>
              </a:r>
            </a:p>
          </p:txBody>
        </p:sp>
      </p:grpSp>
    </p:spTree>
    <p:extLst>
      <p:ext uri="{BB962C8B-B14F-4D97-AF65-F5344CB8AC3E}">
        <p14:creationId xmlns:p14="http://schemas.microsoft.com/office/powerpoint/2010/main" val="41376132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0" y="228600"/>
            <a:ext cx="8799006" cy="859055"/>
          </a:xfrm>
        </p:spPr>
        <p:txBody>
          <a:bodyPr>
            <a:normAutofit/>
          </a:bodyPr>
          <a:lstStyle/>
          <a:p>
            <a:r>
              <a:rPr lang="en-US" dirty="0" err="1"/>
              <a:t>Lợi</a:t>
            </a:r>
            <a:r>
              <a:rPr lang="en-US" dirty="0"/>
              <a:t> </a:t>
            </a:r>
            <a:r>
              <a:rPr lang="en-US" dirty="0" err="1"/>
              <a:t>ích</a:t>
            </a:r>
            <a:r>
              <a:rPr lang="en-US" dirty="0"/>
              <a:t> </a:t>
            </a:r>
            <a:r>
              <a:rPr lang="en-US" dirty="0" err="1"/>
              <a:t>khi</a:t>
            </a:r>
            <a:r>
              <a:rPr lang="en-US" dirty="0"/>
              <a:t> </a:t>
            </a:r>
            <a:r>
              <a:rPr lang="en-US" dirty="0" err="1"/>
              <a:t>dùng</a:t>
            </a:r>
            <a:r>
              <a:rPr lang="en-US" dirty="0"/>
              <a:t> AWS Cloud9</a:t>
            </a:r>
          </a:p>
        </p:txBody>
      </p:sp>
      <p:sp>
        <p:nvSpPr>
          <p:cNvPr id="9" name="Hình chữ nhật: Góc Tròn 8">
            <a:hlinkClick r:id="rId2" action="ppaction://hlinksldjump"/>
            <a:extLst>
              <a:ext uri="{FF2B5EF4-FFF2-40B4-BE49-F238E27FC236}">
                <a16:creationId xmlns:a16="http://schemas.microsoft.com/office/drawing/2014/main" id="{1FD030D6-5181-8F79-A1F8-E4447DF2AFD3}"/>
              </a:ext>
            </a:extLst>
          </p:cNvPr>
          <p:cNvSpPr>
            <a:spLocks/>
          </p:cNvSpPr>
          <p:nvPr/>
        </p:nvSpPr>
        <p:spPr>
          <a:xfrm>
            <a:off x="984921" y="2046231"/>
            <a:ext cx="4500102" cy="188063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Tích</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hợp</a:t>
            </a:r>
            <a:r>
              <a:rPr kumimoji="0" lang="en-US" sz="5400" b="1" i="0" u="none" strike="noStrike" kern="1200" cap="none" spc="0" normalizeH="0" baseline="0" noProof="0" dirty="0">
                <a:ln>
                  <a:noFill/>
                </a:ln>
                <a:solidFill>
                  <a:prstClr val="black"/>
                </a:solidFill>
                <a:effectLst/>
                <a:uLnTx/>
                <a:uFillTx/>
                <a:latin typeface="Söhne"/>
                <a:ea typeface="+mn-ea"/>
                <a:cs typeface="+mn-cs"/>
              </a:rPr>
              <a:t> Git</a:t>
            </a:r>
          </a:p>
        </p:txBody>
      </p:sp>
      <p:sp>
        <p:nvSpPr>
          <p:cNvPr id="10" name="Hình chữ nhật: Góc Tròn 9">
            <a:hlinkClick r:id="rId3" action="ppaction://hlinksldjump"/>
            <a:extLst>
              <a:ext uri="{FF2B5EF4-FFF2-40B4-BE49-F238E27FC236}">
                <a16:creationId xmlns:a16="http://schemas.microsoft.com/office/drawing/2014/main" id="{5A13DD74-1237-43C9-0214-BA74E1A3EEDA}"/>
              </a:ext>
            </a:extLst>
          </p:cNvPr>
          <p:cNvSpPr/>
          <p:nvPr/>
        </p:nvSpPr>
        <p:spPr>
          <a:xfrm>
            <a:off x="6548955" y="2046231"/>
            <a:ext cx="4500102" cy="1880637"/>
          </a:xfrm>
          <a:prstGeom prst="roundRect">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5400" b="1" i="0" u="none" strike="noStrike" kern="1200" cap="none" spc="0" normalizeH="0" baseline="0" noProof="0" dirty="0">
                <a:ln>
                  <a:noFill/>
                </a:ln>
                <a:solidFill>
                  <a:prstClr val="black"/>
                </a:solidFill>
                <a:effectLst/>
                <a:uLnTx/>
                <a:uFillTx/>
                <a:latin typeface="Söhne"/>
                <a:ea typeface="+mn-ea"/>
                <a:cs typeface="+mn-cs"/>
              </a:rPr>
              <a:t>Truy cập từ xa</a:t>
            </a:r>
          </a:p>
        </p:txBody>
      </p:sp>
      <p:sp>
        <p:nvSpPr>
          <p:cNvPr id="11" name="Hình chữ nhật: Góc Tròn 10">
            <a:hlinkClick r:id="rId4" action="ppaction://hlinksldjump"/>
            <a:extLst>
              <a:ext uri="{FF2B5EF4-FFF2-40B4-BE49-F238E27FC236}">
                <a16:creationId xmlns:a16="http://schemas.microsoft.com/office/drawing/2014/main" id="{A7FA45A6-3BF4-7D60-68A1-4505F2E742C7}"/>
              </a:ext>
            </a:extLst>
          </p:cNvPr>
          <p:cNvSpPr/>
          <p:nvPr/>
        </p:nvSpPr>
        <p:spPr>
          <a:xfrm>
            <a:off x="3834899" y="4306312"/>
            <a:ext cx="4500102" cy="1880637"/>
          </a:xfrm>
          <a:prstGeom prst="roundRect">
            <a:avLst/>
          </a:prstGeom>
          <a:solidFill>
            <a:schemeClr val="accent3"/>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err="1">
                <a:ln>
                  <a:noFill/>
                </a:ln>
                <a:solidFill>
                  <a:prstClr val="black"/>
                </a:solidFill>
                <a:effectLst/>
                <a:uLnTx/>
                <a:uFillTx/>
                <a:latin typeface="Söhne"/>
                <a:ea typeface="+mn-ea"/>
                <a:cs typeface="+mn-cs"/>
              </a:rPr>
              <a:t>Gỡ</a:t>
            </a:r>
            <a:r>
              <a:rPr kumimoji="0" lang="en-US" sz="5400" b="1" i="0" u="none" strike="noStrike" kern="1200" cap="none" spc="0" normalizeH="0" baseline="0" noProof="0" dirty="0">
                <a:ln>
                  <a:noFill/>
                </a:ln>
                <a:solidFill>
                  <a:prstClr val="black"/>
                </a:solidFill>
                <a:effectLst/>
                <a:uLnTx/>
                <a:uFillTx/>
                <a:latin typeface="Söhne"/>
                <a:ea typeface="+mn-ea"/>
                <a:cs typeface="+mn-cs"/>
              </a:rPr>
              <a:t> </a:t>
            </a:r>
            <a:r>
              <a:rPr kumimoji="0" lang="en-US" sz="5400" b="1" i="0" u="none" strike="noStrike" kern="1200" cap="none" spc="0" normalizeH="0" baseline="0" noProof="0" dirty="0" err="1">
                <a:ln>
                  <a:noFill/>
                </a:ln>
                <a:solidFill>
                  <a:prstClr val="black"/>
                </a:solidFill>
                <a:effectLst/>
                <a:uLnTx/>
                <a:uFillTx/>
                <a:latin typeface="Söhne"/>
                <a:ea typeface="+mn-ea"/>
                <a:cs typeface="+mn-cs"/>
              </a:rPr>
              <a:t>lỗi</a:t>
            </a:r>
            <a:endParaRPr kumimoji="0" lang="en-US" sz="5400" b="1" i="0" u="none" strike="noStrike" kern="1200" cap="none" spc="0" normalizeH="0" baseline="0" noProof="0" dirty="0">
              <a:ln>
                <a:noFill/>
              </a:ln>
              <a:solidFill>
                <a:prstClr val="black"/>
              </a:solidFill>
              <a:effectLst/>
              <a:uLnTx/>
              <a:uFillTx/>
              <a:latin typeface="Söhne"/>
              <a:ea typeface="+mn-ea"/>
              <a:cs typeface="+mn-cs"/>
            </a:endParaRPr>
          </a:p>
        </p:txBody>
      </p:sp>
    </p:spTree>
    <p:extLst>
      <p:ext uri="{BB962C8B-B14F-4D97-AF65-F5344CB8AC3E}">
        <p14:creationId xmlns:p14="http://schemas.microsoft.com/office/powerpoint/2010/main" val="2295816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ệt hơi nước">
  <a:themeElements>
    <a:clrScheme name="Vệt hơi nước">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ệt hơi nước">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ệt hơi nước">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
  <TotalTime>47</TotalTime>
  <Words>835</Words>
  <Application>Microsoft Office PowerPoint</Application>
  <PresentationFormat>Màn hình rộng</PresentationFormat>
  <Paragraphs>64</Paragraphs>
  <Slides>14</Slides>
  <Notes>0</Notes>
  <HiddenSlides>0</HiddenSlides>
  <MMClips>0</MMClips>
  <ScaleCrop>false</ScaleCrop>
  <HeadingPairs>
    <vt:vector size="6" baseType="variant">
      <vt:variant>
        <vt:lpstr>Phông được Dùng</vt:lpstr>
      </vt:variant>
      <vt:variant>
        <vt:i4>6</vt:i4>
      </vt:variant>
      <vt:variant>
        <vt:lpstr>Chủ đề</vt:lpstr>
      </vt:variant>
      <vt:variant>
        <vt:i4>2</vt:i4>
      </vt:variant>
      <vt:variant>
        <vt:lpstr>Tiêu đề Bản chiếu</vt:lpstr>
      </vt:variant>
      <vt:variant>
        <vt:i4>14</vt:i4>
      </vt:variant>
    </vt:vector>
  </HeadingPairs>
  <TitlesOfParts>
    <vt:vector size="22" baseType="lpstr">
      <vt:lpstr>Arial</vt:lpstr>
      <vt:lpstr>Calibri</vt:lpstr>
      <vt:lpstr>Calibri Light</vt:lpstr>
      <vt:lpstr>Century Gothic</vt:lpstr>
      <vt:lpstr>Söhne</vt:lpstr>
      <vt:lpstr>Times New Roman</vt:lpstr>
      <vt:lpstr>Chủ đề Office</vt:lpstr>
      <vt:lpstr>Vệt hơi nước</vt:lpstr>
      <vt:lpstr>AWS Cloud9</vt:lpstr>
      <vt:lpstr>AWS Cloud9 là gì ????</vt:lpstr>
      <vt:lpstr>AWS Cloud9 là gì ????</vt:lpstr>
      <vt:lpstr>Lợi ích khi dùng AWS Cloud9</vt:lpstr>
      <vt:lpstr>Lợi ích khi dùng AWS Cloud9</vt:lpstr>
      <vt:lpstr>Bản trình bày PowerPoint</vt:lpstr>
      <vt:lpstr>Lợi ích khi dùng AWS Cloud9</vt:lpstr>
      <vt:lpstr>Bản trình bày PowerPoint</vt:lpstr>
      <vt:lpstr>Bản trình bày PowerPoint</vt:lpstr>
      <vt:lpstr>Bản trình bày PowerPoint</vt:lpstr>
      <vt:lpstr>Bản trình bày PowerPoint</vt:lpstr>
      <vt:lpstr>Lợi ích khi dùng AWS Cloud9</vt:lpstr>
      <vt:lpstr>Bản trình bày PowerPoint</vt:lpstr>
      <vt:lpstr>Lợi ích khi dùng AWS Cloud9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Cloud9</dc:title>
  <dc:creator>Kiệt Đặng Gia</dc:creator>
  <cp:lastModifiedBy>Kiệt Đặng Gia</cp:lastModifiedBy>
  <cp:revision>1</cp:revision>
  <dcterms:created xsi:type="dcterms:W3CDTF">2023-04-27T11:57:24Z</dcterms:created>
  <dcterms:modified xsi:type="dcterms:W3CDTF">2023-04-27T12:44:24Z</dcterms:modified>
</cp:coreProperties>
</file>